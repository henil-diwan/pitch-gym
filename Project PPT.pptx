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sldIdLst>
    <p:sldId id="256" r:id="rId2"/>
    <p:sldId id="367" r:id="rId3"/>
    <p:sldId id="363" r:id="rId4"/>
    <p:sldId id="404" r:id="rId5"/>
    <p:sldId id="405" r:id="rId6"/>
    <p:sldId id="365" r:id="rId7"/>
    <p:sldId id="392" r:id="rId8"/>
    <p:sldId id="362" r:id="rId9"/>
    <p:sldId id="410" r:id="rId10"/>
    <p:sldId id="409" r:id="rId11"/>
    <p:sldId id="374" r:id="rId12"/>
    <p:sldId id="394" r:id="rId13"/>
    <p:sldId id="412" r:id="rId14"/>
    <p:sldId id="408" r:id="rId15"/>
    <p:sldId id="406" r:id="rId16"/>
    <p:sldId id="411" r:id="rId17"/>
    <p:sldId id="413" r:id="rId18"/>
    <p:sldId id="414" r:id="rId19"/>
    <p:sldId id="403" r:id="rId20"/>
    <p:sldId id="415" r:id="rId21"/>
    <p:sldId id="384" r:id="rId22"/>
    <p:sldId id="388" r:id="rId23"/>
    <p:sldId id="3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EFDEBB-07F4-4F96-9E06-FD79C33EA7AB}">
          <p14:sldIdLst>
            <p14:sldId id="256"/>
            <p14:sldId id="367"/>
            <p14:sldId id="363"/>
            <p14:sldId id="404"/>
            <p14:sldId id="405"/>
            <p14:sldId id="365"/>
            <p14:sldId id="392"/>
            <p14:sldId id="362"/>
            <p14:sldId id="410"/>
            <p14:sldId id="409"/>
            <p14:sldId id="374"/>
            <p14:sldId id="394"/>
            <p14:sldId id="412"/>
            <p14:sldId id="408"/>
            <p14:sldId id="406"/>
            <p14:sldId id="411"/>
            <p14:sldId id="413"/>
            <p14:sldId id="414"/>
            <p14:sldId id="403"/>
            <p14:sldId id="415"/>
            <p14:sldId id="384"/>
            <p14:sldId id="388"/>
            <p14:sldId id="37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4660"/>
  </p:normalViewPr>
  <p:slideViewPr>
    <p:cSldViewPr snapToGrid="0">
      <p:cViewPr varScale="1">
        <p:scale>
          <a:sx n="112" d="100"/>
          <a:sy n="112" d="100"/>
        </p:scale>
        <p:origin x="54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A5D5E6-B0AD-41ED-8662-9956D43294C8}" type="datetimeFigureOut">
              <a:rPr lang="en-IN" smtClean="0"/>
              <a:t>29-04-2026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032C53-18A6-424C-AC3F-6A5C88268FAC}" type="slidenum">
              <a:rPr lang="en-IN" smtClean="0"/>
              <a:t>‹#›</a:t>
            </a:fld>
            <a:endParaRPr lang="en-IN" dirty="0"/>
          </a:p>
        </p:txBody>
      </p:sp>
    </p:spTree>
    <p:extLst>
      <p:ext uri="{BB962C8B-B14F-4D97-AF65-F5344CB8AC3E}">
        <p14:creationId xmlns:p14="http://schemas.microsoft.com/office/powerpoint/2010/main" val="3372920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102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024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eaLnBrk="0" hangingPunct="0">
              <a:defRPr sz="1600" i="1" u="sng">
                <a:solidFill>
                  <a:schemeClr val="tx1"/>
                </a:solidFill>
                <a:latin typeface="Arial" charset="0"/>
                <a:cs typeface="Arial" charset="0"/>
              </a:defRPr>
            </a:lvl1pPr>
            <a:lvl2pPr marL="742950" indent="-285750" defTabSz="957263" eaLnBrk="0" hangingPunct="0">
              <a:defRPr sz="1600" i="1" u="sng">
                <a:solidFill>
                  <a:schemeClr val="tx1"/>
                </a:solidFill>
                <a:latin typeface="Arial" charset="0"/>
                <a:cs typeface="Arial" charset="0"/>
              </a:defRPr>
            </a:lvl2pPr>
            <a:lvl3pPr marL="1143000" indent="-228600" defTabSz="957263" eaLnBrk="0" hangingPunct="0">
              <a:defRPr sz="1600" i="1" u="sng">
                <a:solidFill>
                  <a:schemeClr val="tx1"/>
                </a:solidFill>
                <a:latin typeface="Arial" charset="0"/>
                <a:cs typeface="Arial" charset="0"/>
              </a:defRPr>
            </a:lvl3pPr>
            <a:lvl4pPr marL="1600200" indent="-228600" defTabSz="957263" eaLnBrk="0" hangingPunct="0">
              <a:defRPr sz="1600" i="1" u="sng">
                <a:solidFill>
                  <a:schemeClr val="tx1"/>
                </a:solidFill>
                <a:latin typeface="Arial" charset="0"/>
                <a:cs typeface="Arial" charset="0"/>
              </a:defRPr>
            </a:lvl4pPr>
            <a:lvl5pPr marL="2057400" indent="-228600" defTabSz="957263" eaLnBrk="0" hangingPunct="0">
              <a:defRPr sz="1600" i="1" u="sng">
                <a:solidFill>
                  <a:schemeClr val="tx1"/>
                </a:solidFill>
                <a:latin typeface="Arial" charset="0"/>
                <a:cs typeface="Arial" charset="0"/>
              </a:defRPr>
            </a:lvl5pPr>
            <a:lvl6pPr marL="2514600" indent="-228600" algn="ctr" defTabSz="957263" eaLnBrk="0" fontAlgn="base" hangingPunct="0">
              <a:lnSpc>
                <a:spcPct val="120000"/>
              </a:lnSpc>
              <a:spcBef>
                <a:spcPct val="0"/>
              </a:spcBef>
              <a:spcAft>
                <a:spcPct val="0"/>
              </a:spcAft>
              <a:buFont typeface="Wingdings 3" pitchFamily="18" charset="2"/>
              <a:defRPr sz="1600" i="1" u="sng">
                <a:solidFill>
                  <a:schemeClr val="tx1"/>
                </a:solidFill>
                <a:latin typeface="Arial" charset="0"/>
                <a:cs typeface="Arial" charset="0"/>
              </a:defRPr>
            </a:lvl6pPr>
            <a:lvl7pPr marL="2971800" indent="-228600" algn="ctr" defTabSz="957263" eaLnBrk="0" fontAlgn="base" hangingPunct="0">
              <a:lnSpc>
                <a:spcPct val="120000"/>
              </a:lnSpc>
              <a:spcBef>
                <a:spcPct val="0"/>
              </a:spcBef>
              <a:spcAft>
                <a:spcPct val="0"/>
              </a:spcAft>
              <a:buFont typeface="Wingdings 3" pitchFamily="18" charset="2"/>
              <a:defRPr sz="1600" i="1" u="sng">
                <a:solidFill>
                  <a:schemeClr val="tx1"/>
                </a:solidFill>
                <a:latin typeface="Arial" charset="0"/>
                <a:cs typeface="Arial" charset="0"/>
              </a:defRPr>
            </a:lvl7pPr>
            <a:lvl8pPr marL="3429000" indent="-228600" algn="ctr" defTabSz="957263" eaLnBrk="0" fontAlgn="base" hangingPunct="0">
              <a:lnSpc>
                <a:spcPct val="120000"/>
              </a:lnSpc>
              <a:spcBef>
                <a:spcPct val="0"/>
              </a:spcBef>
              <a:spcAft>
                <a:spcPct val="0"/>
              </a:spcAft>
              <a:buFont typeface="Wingdings 3" pitchFamily="18" charset="2"/>
              <a:defRPr sz="1600" i="1" u="sng">
                <a:solidFill>
                  <a:schemeClr val="tx1"/>
                </a:solidFill>
                <a:latin typeface="Arial" charset="0"/>
                <a:cs typeface="Arial" charset="0"/>
              </a:defRPr>
            </a:lvl8pPr>
            <a:lvl9pPr marL="3886200" indent="-228600" algn="ctr" defTabSz="957263" eaLnBrk="0" fontAlgn="base" hangingPunct="0">
              <a:lnSpc>
                <a:spcPct val="120000"/>
              </a:lnSpc>
              <a:spcBef>
                <a:spcPct val="0"/>
              </a:spcBef>
              <a:spcAft>
                <a:spcPct val="0"/>
              </a:spcAft>
              <a:buFont typeface="Wingdings 3" pitchFamily="18" charset="2"/>
              <a:defRPr sz="1600" i="1" u="sng">
                <a:solidFill>
                  <a:schemeClr val="tx1"/>
                </a:solidFill>
                <a:latin typeface="Arial" charset="0"/>
                <a:cs typeface="Arial" charset="0"/>
              </a:defRPr>
            </a:lvl9pPr>
          </a:lstStyle>
          <a:p>
            <a:pPr eaLnBrk="1" hangingPunct="1"/>
            <a:fld id="{8DB8CE8C-FE07-45AE-B0F5-C2FA4B625204}" type="slidenum">
              <a:rPr lang="de-DE" sz="1300" i="0" u="none" smtClean="0"/>
              <a:pPr eaLnBrk="1" hangingPunct="1"/>
              <a:t>8</a:t>
            </a:fld>
            <a:endParaRPr lang="de-DE" sz="1300" i="0" u="none"/>
          </a:p>
        </p:txBody>
      </p:sp>
    </p:spTree>
    <p:extLst>
      <p:ext uri="{BB962C8B-B14F-4D97-AF65-F5344CB8AC3E}">
        <p14:creationId xmlns:p14="http://schemas.microsoft.com/office/powerpoint/2010/main" val="656200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472FA-190E-4F97-783A-C51ED0EFE290}"/>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1C0CD4FF-06C4-A0F9-0786-1A990EB7CFBD}"/>
              </a:ext>
            </a:extLst>
          </p:cNvPr>
          <p:cNvSpPr>
            <a:spLocks noGrp="1" noRot="1" noChangeAspect="1" noTextEdit="1"/>
          </p:cNvSpPr>
          <p:nvPr>
            <p:ph type="sldImg"/>
          </p:nvPr>
        </p:nvSpPr>
        <p:spPr>
          <a:ln/>
        </p:spPr>
      </p:sp>
      <p:sp>
        <p:nvSpPr>
          <p:cNvPr id="10243" name="Notes Placeholder 2">
            <a:extLst>
              <a:ext uri="{FF2B5EF4-FFF2-40B4-BE49-F238E27FC236}">
                <a16:creationId xmlns:a16="http://schemas.microsoft.com/office/drawing/2014/main" id="{9A55A6D8-9212-94C2-F51F-A2A3C924731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0244" name="Slide Number Placeholder 3">
            <a:extLst>
              <a:ext uri="{FF2B5EF4-FFF2-40B4-BE49-F238E27FC236}">
                <a16:creationId xmlns:a16="http://schemas.microsoft.com/office/drawing/2014/main" id="{10130A19-F5BA-F947-0559-4D7FF93B839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eaLnBrk="0" hangingPunct="0">
              <a:defRPr sz="1600" i="1" u="sng">
                <a:solidFill>
                  <a:schemeClr val="tx1"/>
                </a:solidFill>
                <a:latin typeface="Arial" charset="0"/>
                <a:cs typeface="Arial" charset="0"/>
              </a:defRPr>
            </a:lvl1pPr>
            <a:lvl2pPr marL="742950" indent="-285750" defTabSz="957263" eaLnBrk="0" hangingPunct="0">
              <a:defRPr sz="1600" i="1" u="sng">
                <a:solidFill>
                  <a:schemeClr val="tx1"/>
                </a:solidFill>
                <a:latin typeface="Arial" charset="0"/>
                <a:cs typeface="Arial" charset="0"/>
              </a:defRPr>
            </a:lvl2pPr>
            <a:lvl3pPr marL="1143000" indent="-228600" defTabSz="957263" eaLnBrk="0" hangingPunct="0">
              <a:defRPr sz="1600" i="1" u="sng">
                <a:solidFill>
                  <a:schemeClr val="tx1"/>
                </a:solidFill>
                <a:latin typeface="Arial" charset="0"/>
                <a:cs typeface="Arial" charset="0"/>
              </a:defRPr>
            </a:lvl3pPr>
            <a:lvl4pPr marL="1600200" indent="-228600" defTabSz="957263" eaLnBrk="0" hangingPunct="0">
              <a:defRPr sz="1600" i="1" u="sng">
                <a:solidFill>
                  <a:schemeClr val="tx1"/>
                </a:solidFill>
                <a:latin typeface="Arial" charset="0"/>
                <a:cs typeface="Arial" charset="0"/>
              </a:defRPr>
            </a:lvl4pPr>
            <a:lvl5pPr marL="2057400" indent="-228600" defTabSz="957263" eaLnBrk="0" hangingPunct="0">
              <a:defRPr sz="1600" i="1" u="sng">
                <a:solidFill>
                  <a:schemeClr val="tx1"/>
                </a:solidFill>
                <a:latin typeface="Arial" charset="0"/>
                <a:cs typeface="Arial" charset="0"/>
              </a:defRPr>
            </a:lvl5pPr>
            <a:lvl6pPr marL="2514600" indent="-228600" algn="ctr" defTabSz="957263" eaLnBrk="0" fontAlgn="base" hangingPunct="0">
              <a:lnSpc>
                <a:spcPct val="120000"/>
              </a:lnSpc>
              <a:spcBef>
                <a:spcPct val="0"/>
              </a:spcBef>
              <a:spcAft>
                <a:spcPct val="0"/>
              </a:spcAft>
              <a:buFont typeface="Wingdings 3" pitchFamily="18" charset="2"/>
              <a:defRPr sz="1600" i="1" u="sng">
                <a:solidFill>
                  <a:schemeClr val="tx1"/>
                </a:solidFill>
                <a:latin typeface="Arial" charset="0"/>
                <a:cs typeface="Arial" charset="0"/>
              </a:defRPr>
            </a:lvl6pPr>
            <a:lvl7pPr marL="2971800" indent="-228600" algn="ctr" defTabSz="957263" eaLnBrk="0" fontAlgn="base" hangingPunct="0">
              <a:lnSpc>
                <a:spcPct val="120000"/>
              </a:lnSpc>
              <a:spcBef>
                <a:spcPct val="0"/>
              </a:spcBef>
              <a:spcAft>
                <a:spcPct val="0"/>
              </a:spcAft>
              <a:buFont typeface="Wingdings 3" pitchFamily="18" charset="2"/>
              <a:defRPr sz="1600" i="1" u="sng">
                <a:solidFill>
                  <a:schemeClr val="tx1"/>
                </a:solidFill>
                <a:latin typeface="Arial" charset="0"/>
                <a:cs typeface="Arial" charset="0"/>
              </a:defRPr>
            </a:lvl7pPr>
            <a:lvl8pPr marL="3429000" indent="-228600" algn="ctr" defTabSz="957263" eaLnBrk="0" fontAlgn="base" hangingPunct="0">
              <a:lnSpc>
                <a:spcPct val="120000"/>
              </a:lnSpc>
              <a:spcBef>
                <a:spcPct val="0"/>
              </a:spcBef>
              <a:spcAft>
                <a:spcPct val="0"/>
              </a:spcAft>
              <a:buFont typeface="Wingdings 3" pitchFamily="18" charset="2"/>
              <a:defRPr sz="1600" i="1" u="sng">
                <a:solidFill>
                  <a:schemeClr val="tx1"/>
                </a:solidFill>
                <a:latin typeface="Arial" charset="0"/>
                <a:cs typeface="Arial" charset="0"/>
              </a:defRPr>
            </a:lvl8pPr>
            <a:lvl9pPr marL="3886200" indent="-228600" algn="ctr" defTabSz="957263" eaLnBrk="0" fontAlgn="base" hangingPunct="0">
              <a:lnSpc>
                <a:spcPct val="120000"/>
              </a:lnSpc>
              <a:spcBef>
                <a:spcPct val="0"/>
              </a:spcBef>
              <a:spcAft>
                <a:spcPct val="0"/>
              </a:spcAft>
              <a:buFont typeface="Wingdings 3" pitchFamily="18" charset="2"/>
              <a:defRPr sz="1600" i="1" u="sng">
                <a:solidFill>
                  <a:schemeClr val="tx1"/>
                </a:solidFill>
                <a:latin typeface="Arial" charset="0"/>
                <a:cs typeface="Arial" charset="0"/>
              </a:defRPr>
            </a:lvl9pPr>
          </a:lstStyle>
          <a:p>
            <a:pPr eaLnBrk="1" hangingPunct="1"/>
            <a:fld id="{8DB8CE8C-FE07-45AE-B0F5-C2FA4B625204}" type="slidenum">
              <a:rPr lang="de-DE" sz="1300" i="0" u="none" smtClean="0"/>
              <a:pPr eaLnBrk="1" hangingPunct="1"/>
              <a:t>10</a:t>
            </a:fld>
            <a:endParaRPr lang="de-DE" sz="1300" i="0" u="none"/>
          </a:p>
        </p:txBody>
      </p:sp>
    </p:spTree>
    <p:extLst>
      <p:ext uri="{BB962C8B-B14F-4D97-AF65-F5344CB8AC3E}">
        <p14:creationId xmlns:p14="http://schemas.microsoft.com/office/powerpoint/2010/main" val="3334638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7298556E-34A8-4C89-928C-C44CFAE91F01}" type="slidenum">
              <a:rPr lang="de-DE" smtClean="0"/>
              <a:pPr>
                <a:defRPr/>
              </a:pPr>
              <a:t>23</a:t>
            </a:fld>
            <a:endParaRPr lang="de-DE"/>
          </a:p>
        </p:txBody>
      </p:sp>
    </p:spTree>
    <p:extLst>
      <p:ext uri="{BB962C8B-B14F-4D97-AF65-F5344CB8AC3E}">
        <p14:creationId xmlns:p14="http://schemas.microsoft.com/office/powerpoint/2010/main" val="782811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E9482-22DE-0D21-81F8-270EEDBD05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D1C4B50-7722-5DAC-0A81-541C50B8D8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EE3A5FF-2541-A118-4175-556BE74CABEC}"/>
              </a:ext>
            </a:extLst>
          </p:cNvPr>
          <p:cNvSpPr>
            <a:spLocks noGrp="1"/>
          </p:cNvSpPr>
          <p:nvPr>
            <p:ph type="dt" sz="half" idx="10"/>
          </p:nvPr>
        </p:nvSpPr>
        <p:spPr/>
        <p:txBody>
          <a:bodyPr/>
          <a:lstStyle/>
          <a:p>
            <a:r>
              <a:rPr lang="en-IN" dirty="0"/>
              <a:t>BMEE497J - Project I - School of Mechanical Engineering</a:t>
            </a:r>
          </a:p>
        </p:txBody>
      </p:sp>
      <p:sp>
        <p:nvSpPr>
          <p:cNvPr id="5" name="Footer Placeholder 4">
            <a:extLst>
              <a:ext uri="{FF2B5EF4-FFF2-40B4-BE49-F238E27FC236}">
                <a16:creationId xmlns:a16="http://schemas.microsoft.com/office/drawing/2014/main" id="{BB8C846D-E9D3-7D72-68AE-26216F563C1D}"/>
              </a:ext>
            </a:extLst>
          </p:cNvPr>
          <p:cNvSpPr>
            <a:spLocks noGrp="1"/>
          </p:cNvSpPr>
          <p:nvPr>
            <p:ph type="ftr" sz="quarter" idx="11"/>
          </p:nvPr>
        </p:nvSpPr>
        <p:spPr/>
        <p:txBody>
          <a:bodyPr/>
          <a:lstStyle/>
          <a:p>
            <a:r>
              <a:rPr lang="en-IN" dirty="0"/>
              <a:t>SMEC, Project Review</a:t>
            </a:r>
          </a:p>
        </p:txBody>
      </p:sp>
      <p:sp>
        <p:nvSpPr>
          <p:cNvPr id="6" name="Slide Number Placeholder 5">
            <a:extLst>
              <a:ext uri="{FF2B5EF4-FFF2-40B4-BE49-F238E27FC236}">
                <a16:creationId xmlns:a16="http://schemas.microsoft.com/office/drawing/2014/main" id="{C25C9C58-03B8-F6B9-A005-EFEE683DD7E4}"/>
              </a:ext>
            </a:extLst>
          </p:cNvPr>
          <p:cNvSpPr>
            <a:spLocks noGrp="1"/>
          </p:cNvSpPr>
          <p:nvPr>
            <p:ph type="sldNum" sz="quarter" idx="12"/>
          </p:nvPr>
        </p:nvSpPr>
        <p:spPr/>
        <p:txBody>
          <a:bodyPr/>
          <a:lstStyle/>
          <a:p>
            <a:fld id="{87ACCF74-76A4-4B7C-AE89-E33624618226}" type="slidenum">
              <a:rPr lang="en-IN" smtClean="0"/>
              <a:t>‹#›</a:t>
            </a:fld>
            <a:endParaRPr lang="en-IN" dirty="0"/>
          </a:p>
        </p:txBody>
      </p:sp>
    </p:spTree>
    <p:extLst>
      <p:ext uri="{BB962C8B-B14F-4D97-AF65-F5344CB8AC3E}">
        <p14:creationId xmlns:p14="http://schemas.microsoft.com/office/powerpoint/2010/main" val="2186847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CD337-B9E0-668E-B9A8-F5223ACAB5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4BBAB7-12BE-907B-2E38-8224F66D69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0E9945-99D3-B429-F5EB-8403510729B1}"/>
              </a:ext>
            </a:extLst>
          </p:cNvPr>
          <p:cNvSpPr>
            <a:spLocks noGrp="1"/>
          </p:cNvSpPr>
          <p:nvPr>
            <p:ph type="dt" sz="half" idx="10"/>
          </p:nvPr>
        </p:nvSpPr>
        <p:spPr/>
        <p:txBody>
          <a:bodyPr/>
          <a:lstStyle/>
          <a:p>
            <a:r>
              <a:rPr lang="en-IN" dirty="0"/>
              <a:t>BMEE497J - Project I - School of Mechanical Engineering</a:t>
            </a:r>
          </a:p>
        </p:txBody>
      </p:sp>
      <p:sp>
        <p:nvSpPr>
          <p:cNvPr id="5" name="Footer Placeholder 4">
            <a:extLst>
              <a:ext uri="{FF2B5EF4-FFF2-40B4-BE49-F238E27FC236}">
                <a16:creationId xmlns:a16="http://schemas.microsoft.com/office/drawing/2014/main" id="{402482D7-3105-2ED2-DEAB-5B18ADD16C24}"/>
              </a:ext>
            </a:extLst>
          </p:cNvPr>
          <p:cNvSpPr>
            <a:spLocks noGrp="1"/>
          </p:cNvSpPr>
          <p:nvPr>
            <p:ph type="ftr" sz="quarter" idx="11"/>
          </p:nvPr>
        </p:nvSpPr>
        <p:spPr/>
        <p:txBody>
          <a:bodyPr/>
          <a:lstStyle/>
          <a:p>
            <a:r>
              <a:rPr lang="en-IN" dirty="0"/>
              <a:t>SMEC, Project Review</a:t>
            </a:r>
          </a:p>
        </p:txBody>
      </p:sp>
      <p:sp>
        <p:nvSpPr>
          <p:cNvPr id="6" name="Slide Number Placeholder 5">
            <a:extLst>
              <a:ext uri="{FF2B5EF4-FFF2-40B4-BE49-F238E27FC236}">
                <a16:creationId xmlns:a16="http://schemas.microsoft.com/office/drawing/2014/main" id="{FF0E51A5-BDCF-6581-FB94-3BFF7191C56D}"/>
              </a:ext>
            </a:extLst>
          </p:cNvPr>
          <p:cNvSpPr>
            <a:spLocks noGrp="1"/>
          </p:cNvSpPr>
          <p:nvPr>
            <p:ph type="sldNum" sz="quarter" idx="12"/>
          </p:nvPr>
        </p:nvSpPr>
        <p:spPr/>
        <p:txBody>
          <a:bodyPr/>
          <a:lstStyle/>
          <a:p>
            <a:fld id="{87ACCF74-76A4-4B7C-AE89-E33624618226}" type="slidenum">
              <a:rPr lang="en-IN" smtClean="0"/>
              <a:t>‹#›</a:t>
            </a:fld>
            <a:endParaRPr lang="en-IN"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05963" y="0"/>
            <a:ext cx="2286037" cy="635010"/>
          </a:xfrm>
          <a:prstGeom prst="rect">
            <a:avLst/>
          </a:prstGeom>
        </p:spPr>
      </p:pic>
    </p:spTree>
    <p:extLst>
      <p:ext uri="{BB962C8B-B14F-4D97-AF65-F5344CB8AC3E}">
        <p14:creationId xmlns:p14="http://schemas.microsoft.com/office/powerpoint/2010/main" val="2384636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86071-FB7C-7C42-1B40-7E8DC70C2D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75E358-7E37-582F-2EA9-8A6AAEEF68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BDA6DF-B580-B33C-588C-2532E824C1C7}"/>
              </a:ext>
            </a:extLst>
          </p:cNvPr>
          <p:cNvSpPr>
            <a:spLocks noGrp="1"/>
          </p:cNvSpPr>
          <p:nvPr>
            <p:ph type="dt" sz="half" idx="10"/>
          </p:nvPr>
        </p:nvSpPr>
        <p:spPr/>
        <p:txBody>
          <a:bodyPr/>
          <a:lstStyle/>
          <a:p>
            <a:r>
              <a:rPr lang="en-IN" dirty="0"/>
              <a:t>BMEE497J - Project I - School of Mechanical Engineering</a:t>
            </a:r>
          </a:p>
        </p:txBody>
      </p:sp>
      <p:sp>
        <p:nvSpPr>
          <p:cNvPr id="5" name="Footer Placeholder 4">
            <a:extLst>
              <a:ext uri="{FF2B5EF4-FFF2-40B4-BE49-F238E27FC236}">
                <a16:creationId xmlns:a16="http://schemas.microsoft.com/office/drawing/2014/main" id="{69BB9B3E-1D5D-ADA0-7F51-F4FE191A494B}"/>
              </a:ext>
            </a:extLst>
          </p:cNvPr>
          <p:cNvSpPr>
            <a:spLocks noGrp="1"/>
          </p:cNvSpPr>
          <p:nvPr>
            <p:ph type="ftr" sz="quarter" idx="11"/>
          </p:nvPr>
        </p:nvSpPr>
        <p:spPr/>
        <p:txBody>
          <a:bodyPr/>
          <a:lstStyle/>
          <a:p>
            <a:r>
              <a:rPr lang="en-IN" dirty="0"/>
              <a:t>SMEC, Project Review</a:t>
            </a:r>
          </a:p>
        </p:txBody>
      </p:sp>
      <p:sp>
        <p:nvSpPr>
          <p:cNvPr id="6" name="Slide Number Placeholder 5">
            <a:extLst>
              <a:ext uri="{FF2B5EF4-FFF2-40B4-BE49-F238E27FC236}">
                <a16:creationId xmlns:a16="http://schemas.microsoft.com/office/drawing/2014/main" id="{523AD1CA-C721-DDAE-89BD-91075BE83562}"/>
              </a:ext>
            </a:extLst>
          </p:cNvPr>
          <p:cNvSpPr>
            <a:spLocks noGrp="1"/>
          </p:cNvSpPr>
          <p:nvPr>
            <p:ph type="sldNum" sz="quarter" idx="12"/>
          </p:nvPr>
        </p:nvSpPr>
        <p:spPr/>
        <p:txBody>
          <a:bodyPr/>
          <a:lstStyle/>
          <a:p>
            <a:fld id="{87ACCF74-76A4-4B7C-AE89-E33624618226}" type="slidenum">
              <a:rPr lang="en-IN" smtClean="0"/>
              <a:t>‹#›</a:t>
            </a:fld>
            <a:endParaRPr lang="en-IN" dirty="0"/>
          </a:p>
        </p:txBody>
      </p:sp>
    </p:spTree>
    <p:extLst>
      <p:ext uri="{BB962C8B-B14F-4D97-AF65-F5344CB8AC3E}">
        <p14:creationId xmlns:p14="http://schemas.microsoft.com/office/powerpoint/2010/main" val="931570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37C8B-48AA-08FE-C165-36BBF2B4E9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1B5D3A-E882-CD08-A2E8-0A89D8EFF5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BBF80D7-6AE0-6C26-F95C-0D6A66AF87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638A26C-A39E-ACD6-6F2A-5B1A6BEB48B3}"/>
              </a:ext>
            </a:extLst>
          </p:cNvPr>
          <p:cNvSpPr>
            <a:spLocks noGrp="1"/>
          </p:cNvSpPr>
          <p:nvPr>
            <p:ph type="dt" sz="half" idx="10"/>
          </p:nvPr>
        </p:nvSpPr>
        <p:spPr/>
        <p:txBody>
          <a:bodyPr/>
          <a:lstStyle/>
          <a:p>
            <a:r>
              <a:rPr lang="en-IN" dirty="0"/>
              <a:t>BMEE497J - Project I - School of Mechanical Engineering</a:t>
            </a:r>
          </a:p>
        </p:txBody>
      </p:sp>
      <p:sp>
        <p:nvSpPr>
          <p:cNvPr id="6" name="Footer Placeholder 5">
            <a:extLst>
              <a:ext uri="{FF2B5EF4-FFF2-40B4-BE49-F238E27FC236}">
                <a16:creationId xmlns:a16="http://schemas.microsoft.com/office/drawing/2014/main" id="{DAEA6CA2-E862-3332-7386-E5FBE61EAD7C}"/>
              </a:ext>
            </a:extLst>
          </p:cNvPr>
          <p:cNvSpPr>
            <a:spLocks noGrp="1"/>
          </p:cNvSpPr>
          <p:nvPr>
            <p:ph type="ftr" sz="quarter" idx="11"/>
          </p:nvPr>
        </p:nvSpPr>
        <p:spPr/>
        <p:txBody>
          <a:bodyPr/>
          <a:lstStyle/>
          <a:p>
            <a:r>
              <a:rPr lang="en-IN" dirty="0"/>
              <a:t>SMEC, Project Review</a:t>
            </a:r>
          </a:p>
        </p:txBody>
      </p:sp>
      <p:sp>
        <p:nvSpPr>
          <p:cNvPr id="7" name="Slide Number Placeholder 6">
            <a:extLst>
              <a:ext uri="{FF2B5EF4-FFF2-40B4-BE49-F238E27FC236}">
                <a16:creationId xmlns:a16="http://schemas.microsoft.com/office/drawing/2014/main" id="{1CC93546-953E-092B-A1A2-03ADC74281CA}"/>
              </a:ext>
            </a:extLst>
          </p:cNvPr>
          <p:cNvSpPr>
            <a:spLocks noGrp="1"/>
          </p:cNvSpPr>
          <p:nvPr>
            <p:ph type="sldNum" sz="quarter" idx="12"/>
          </p:nvPr>
        </p:nvSpPr>
        <p:spPr/>
        <p:txBody>
          <a:bodyPr/>
          <a:lstStyle/>
          <a:p>
            <a:fld id="{87ACCF74-76A4-4B7C-AE89-E33624618226}" type="slidenum">
              <a:rPr lang="en-IN" smtClean="0"/>
              <a:t>‹#›</a:t>
            </a:fld>
            <a:endParaRPr lang="en-IN" dirty="0"/>
          </a:p>
        </p:txBody>
      </p:sp>
      <p:pic>
        <p:nvPicPr>
          <p:cNvPr id="8" name="Picture 7">
            <a:extLst>
              <a:ext uri="{FF2B5EF4-FFF2-40B4-BE49-F238E27FC236}">
                <a16:creationId xmlns:a16="http://schemas.microsoft.com/office/drawing/2014/main" id="{A38F8835-2F43-77FA-999D-062CD06FAE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05963" y="12192"/>
            <a:ext cx="2286037" cy="635010"/>
          </a:xfrm>
          <a:prstGeom prst="rect">
            <a:avLst/>
          </a:prstGeom>
        </p:spPr>
      </p:pic>
    </p:spTree>
    <p:extLst>
      <p:ext uri="{BB962C8B-B14F-4D97-AF65-F5344CB8AC3E}">
        <p14:creationId xmlns:p14="http://schemas.microsoft.com/office/powerpoint/2010/main" val="1795973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B02F0-B55A-8E8B-340B-02181511465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BF01E7-E941-7111-8CDB-100B103618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FB7E8C-F3CD-1D17-B86D-E92511B657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46C9A37-3FE9-1721-A1FD-031D934264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CFA0D3-FE19-AFED-1D79-C7854A5ABC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A4DEB1-C54C-0EF2-3B88-3844BC543ACE}"/>
              </a:ext>
            </a:extLst>
          </p:cNvPr>
          <p:cNvSpPr>
            <a:spLocks noGrp="1"/>
          </p:cNvSpPr>
          <p:nvPr>
            <p:ph type="dt" sz="half" idx="10"/>
          </p:nvPr>
        </p:nvSpPr>
        <p:spPr/>
        <p:txBody>
          <a:bodyPr/>
          <a:lstStyle/>
          <a:p>
            <a:r>
              <a:rPr lang="en-IN" dirty="0"/>
              <a:t>BMEE497J - Project I - School of Mechanical Engineering</a:t>
            </a:r>
          </a:p>
        </p:txBody>
      </p:sp>
      <p:sp>
        <p:nvSpPr>
          <p:cNvPr id="8" name="Footer Placeholder 7">
            <a:extLst>
              <a:ext uri="{FF2B5EF4-FFF2-40B4-BE49-F238E27FC236}">
                <a16:creationId xmlns:a16="http://schemas.microsoft.com/office/drawing/2014/main" id="{71A37A49-A24F-27E9-2619-778CD0441885}"/>
              </a:ext>
            </a:extLst>
          </p:cNvPr>
          <p:cNvSpPr>
            <a:spLocks noGrp="1"/>
          </p:cNvSpPr>
          <p:nvPr>
            <p:ph type="ftr" sz="quarter" idx="11"/>
          </p:nvPr>
        </p:nvSpPr>
        <p:spPr/>
        <p:txBody>
          <a:bodyPr/>
          <a:lstStyle/>
          <a:p>
            <a:r>
              <a:rPr lang="en-IN" dirty="0"/>
              <a:t>SMEC, Project Review</a:t>
            </a:r>
          </a:p>
        </p:txBody>
      </p:sp>
      <p:sp>
        <p:nvSpPr>
          <p:cNvPr id="9" name="Slide Number Placeholder 8">
            <a:extLst>
              <a:ext uri="{FF2B5EF4-FFF2-40B4-BE49-F238E27FC236}">
                <a16:creationId xmlns:a16="http://schemas.microsoft.com/office/drawing/2014/main" id="{7777AB98-A846-4F83-C767-BA4378FEBC0D}"/>
              </a:ext>
            </a:extLst>
          </p:cNvPr>
          <p:cNvSpPr>
            <a:spLocks noGrp="1"/>
          </p:cNvSpPr>
          <p:nvPr>
            <p:ph type="sldNum" sz="quarter" idx="12"/>
          </p:nvPr>
        </p:nvSpPr>
        <p:spPr/>
        <p:txBody>
          <a:bodyPr/>
          <a:lstStyle/>
          <a:p>
            <a:fld id="{87ACCF74-76A4-4B7C-AE89-E33624618226}" type="slidenum">
              <a:rPr lang="en-IN" smtClean="0"/>
              <a:t>‹#›</a:t>
            </a:fld>
            <a:endParaRPr lang="en-IN" dirty="0"/>
          </a:p>
        </p:txBody>
      </p:sp>
    </p:spTree>
    <p:extLst>
      <p:ext uri="{BB962C8B-B14F-4D97-AF65-F5344CB8AC3E}">
        <p14:creationId xmlns:p14="http://schemas.microsoft.com/office/powerpoint/2010/main" val="572946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2B17E-E19C-8F73-E16A-3604E51BDC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49BE20-76BE-2743-B41D-D37F9EB25DCE}"/>
              </a:ext>
            </a:extLst>
          </p:cNvPr>
          <p:cNvSpPr>
            <a:spLocks noGrp="1"/>
          </p:cNvSpPr>
          <p:nvPr>
            <p:ph type="dt" sz="half" idx="10"/>
          </p:nvPr>
        </p:nvSpPr>
        <p:spPr/>
        <p:txBody>
          <a:bodyPr/>
          <a:lstStyle/>
          <a:p>
            <a:r>
              <a:rPr lang="en-IN" dirty="0"/>
              <a:t>BMEE497J - Project I - School of Mechanical Engineering</a:t>
            </a:r>
          </a:p>
        </p:txBody>
      </p:sp>
      <p:sp>
        <p:nvSpPr>
          <p:cNvPr id="4" name="Footer Placeholder 3">
            <a:extLst>
              <a:ext uri="{FF2B5EF4-FFF2-40B4-BE49-F238E27FC236}">
                <a16:creationId xmlns:a16="http://schemas.microsoft.com/office/drawing/2014/main" id="{B59F7F79-6D46-060E-4CC0-A92CFC9D5E30}"/>
              </a:ext>
            </a:extLst>
          </p:cNvPr>
          <p:cNvSpPr>
            <a:spLocks noGrp="1"/>
          </p:cNvSpPr>
          <p:nvPr>
            <p:ph type="ftr" sz="quarter" idx="11"/>
          </p:nvPr>
        </p:nvSpPr>
        <p:spPr/>
        <p:txBody>
          <a:bodyPr/>
          <a:lstStyle/>
          <a:p>
            <a:r>
              <a:rPr lang="en-IN" dirty="0"/>
              <a:t>SMEC, Project Review</a:t>
            </a:r>
          </a:p>
        </p:txBody>
      </p:sp>
      <p:sp>
        <p:nvSpPr>
          <p:cNvPr id="5" name="Slide Number Placeholder 4">
            <a:extLst>
              <a:ext uri="{FF2B5EF4-FFF2-40B4-BE49-F238E27FC236}">
                <a16:creationId xmlns:a16="http://schemas.microsoft.com/office/drawing/2014/main" id="{D6B2367A-75D4-93F2-55D3-67EAB133077A}"/>
              </a:ext>
            </a:extLst>
          </p:cNvPr>
          <p:cNvSpPr>
            <a:spLocks noGrp="1"/>
          </p:cNvSpPr>
          <p:nvPr>
            <p:ph type="sldNum" sz="quarter" idx="12"/>
          </p:nvPr>
        </p:nvSpPr>
        <p:spPr/>
        <p:txBody>
          <a:bodyPr/>
          <a:lstStyle/>
          <a:p>
            <a:fld id="{87ACCF74-76A4-4B7C-AE89-E33624618226}" type="slidenum">
              <a:rPr lang="en-IN" smtClean="0"/>
              <a:t>‹#›</a:t>
            </a:fld>
            <a:endParaRPr lang="en-IN" dirty="0"/>
          </a:p>
        </p:txBody>
      </p:sp>
      <p:pic>
        <p:nvPicPr>
          <p:cNvPr id="6" name="Picture 5">
            <a:extLst>
              <a:ext uri="{FF2B5EF4-FFF2-40B4-BE49-F238E27FC236}">
                <a16:creationId xmlns:a16="http://schemas.microsoft.com/office/drawing/2014/main" id="{87EF2180-FDBA-0DCE-F338-7F73B19534C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05963" y="0"/>
            <a:ext cx="2286037" cy="635010"/>
          </a:xfrm>
          <a:prstGeom prst="rect">
            <a:avLst/>
          </a:prstGeom>
        </p:spPr>
      </p:pic>
    </p:spTree>
    <p:extLst>
      <p:ext uri="{BB962C8B-B14F-4D97-AF65-F5344CB8AC3E}">
        <p14:creationId xmlns:p14="http://schemas.microsoft.com/office/powerpoint/2010/main" val="3818781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E6B2DA-3341-8B57-E93B-E70438CD0ADA}"/>
              </a:ext>
            </a:extLst>
          </p:cNvPr>
          <p:cNvSpPr>
            <a:spLocks noGrp="1"/>
          </p:cNvSpPr>
          <p:nvPr>
            <p:ph type="dt" sz="half" idx="10"/>
          </p:nvPr>
        </p:nvSpPr>
        <p:spPr/>
        <p:txBody>
          <a:bodyPr/>
          <a:lstStyle/>
          <a:p>
            <a:r>
              <a:rPr lang="en-IN" dirty="0"/>
              <a:t>BMEE497J - Project I - School of Mechanical Engineering</a:t>
            </a:r>
          </a:p>
        </p:txBody>
      </p:sp>
      <p:sp>
        <p:nvSpPr>
          <p:cNvPr id="3" name="Footer Placeholder 2">
            <a:extLst>
              <a:ext uri="{FF2B5EF4-FFF2-40B4-BE49-F238E27FC236}">
                <a16:creationId xmlns:a16="http://schemas.microsoft.com/office/drawing/2014/main" id="{5733FAD7-6902-5EB0-D9D9-962537618936}"/>
              </a:ext>
            </a:extLst>
          </p:cNvPr>
          <p:cNvSpPr>
            <a:spLocks noGrp="1"/>
          </p:cNvSpPr>
          <p:nvPr>
            <p:ph type="ftr" sz="quarter" idx="11"/>
          </p:nvPr>
        </p:nvSpPr>
        <p:spPr/>
        <p:txBody>
          <a:bodyPr/>
          <a:lstStyle/>
          <a:p>
            <a:r>
              <a:rPr lang="en-IN" dirty="0"/>
              <a:t>SMEC, Project Review</a:t>
            </a:r>
          </a:p>
        </p:txBody>
      </p:sp>
      <p:sp>
        <p:nvSpPr>
          <p:cNvPr id="4" name="Slide Number Placeholder 3">
            <a:extLst>
              <a:ext uri="{FF2B5EF4-FFF2-40B4-BE49-F238E27FC236}">
                <a16:creationId xmlns:a16="http://schemas.microsoft.com/office/drawing/2014/main" id="{3EF0F147-1286-EF57-EE3E-C0515CBE8B87}"/>
              </a:ext>
            </a:extLst>
          </p:cNvPr>
          <p:cNvSpPr>
            <a:spLocks noGrp="1"/>
          </p:cNvSpPr>
          <p:nvPr>
            <p:ph type="sldNum" sz="quarter" idx="12"/>
          </p:nvPr>
        </p:nvSpPr>
        <p:spPr/>
        <p:txBody>
          <a:bodyPr/>
          <a:lstStyle/>
          <a:p>
            <a:fld id="{87ACCF74-76A4-4B7C-AE89-E33624618226}" type="slidenum">
              <a:rPr lang="en-IN" smtClean="0"/>
              <a:t>‹#›</a:t>
            </a:fld>
            <a:endParaRPr lang="en-IN" dirty="0"/>
          </a:p>
        </p:txBody>
      </p:sp>
      <p:pic>
        <p:nvPicPr>
          <p:cNvPr id="5" name="Picture 4">
            <a:extLst>
              <a:ext uri="{FF2B5EF4-FFF2-40B4-BE49-F238E27FC236}">
                <a16:creationId xmlns:a16="http://schemas.microsoft.com/office/drawing/2014/main" id="{990152FE-80AC-6DFE-C015-4AA008F85E1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05963" y="0"/>
            <a:ext cx="2286037" cy="635010"/>
          </a:xfrm>
          <a:prstGeom prst="rect">
            <a:avLst/>
          </a:prstGeom>
        </p:spPr>
      </p:pic>
    </p:spTree>
    <p:extLst>
      <p:ext uri="{BB962C8B-B14F-4D97-AF65-F5344CB8AC3E}">
        <p14:creationId xmlns:p14="http://schemas.microsoft.com/office/powerpoint/2010/main" val="690605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D09C-5929-BE89-BAE5-3C55456A8D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B4A38B-2B38-5DC5-2C10-12849215EB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D2D8FE-753E-B3BA-1CDD-C1B8255496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66BF7E-3367-103B-4C13-9F7CCD775FA7}"/>
              </a:ext>
            </a:extLst>
          </p:cNvPr>
          <p:cNvSpPr>
            <a:spLocks noGrp="1"/>
          </p:cNvSpPr>
          <p:nvPr>
            <p:ph type="dt" sz="half" idx="10"/>
          </p:nvPr>
        </p:nvSpPr>
        <p:spPr/>
        <p:txBody>
          <a:bodyPr/>
          <a:lstStyle/>
          <a:p>
            <a:r>
              <a:rPr lang="en-IN" dirty="0"/>
              <a:t>BMEE497J - Project I - School of Mechanical Engineering</a:t>
            </a:r>
          </a:p>
        </p:txBody>
      </p:sp>
      <p:sp>
        <p:nvSpPr>
          <p:cNvPr id="6" name="Footer Placeholder 5">
            <a:extLst>
              <a:ext uri="{FF2B5EF4-FFF2-40B4-BE49-F238E27FC236}">
                <a16:creationId xmlns:a16="http://schemas.microsoft.com/office/drawing/2014/main" id="{BAF0C79B-F1A4-17A6-0A99-D82A523EC053}"/>
              </a:ext>
            </a:extLst>
          </p:cNvPr>
          <p:cNvSpPr>
            <a:spLocks noGrp="1"/>
          </p:cNvSpPr>
          <p:nvPr>
            <p:ph type="ftr" sz="quarter" idx="11"/>
          </p:nvPr>
        </p:nvSpPr>
        <p:spPr/>
        <p:txBody>
          <a:bodyPr/>
          <a:lstStyle/>
          <a:p>
            <a:r>
              <a:rPr lang="en-IN" dirty="0"/>
              <a:t>SMEC, Project Review</a:t>
            </a:r>
          </a:p>
        </p:txBody>
      </p:sp>
      <p:sp>
        <p:nvSpPr>
          <p:cNvPr id="7" name="Slide Number Placeholder 6">
            <a:extLst>
              <a:ext uri="{FF2B5EF4-FFF2-40B4-BE49-F238E27FC236}">
                <a16:creationId xmlns:a16="http://schemas.microsoft.com/office/drawing/2014/main" id="{03F6517B-0D36-F203-13AA-1BE024CF9BAF}"/>
              </a:ext>
            </a:extLst>
          </p:cNvPr>
          <p:cNvSpPr>
            <a:spLocks noGrp="1"/>
          </p:cNvSpPr>
          <p:nvPr>
            <p:ph type="sldNum" sz="quarter" idx="12"/>
          </p:nvPr>
        </p:nvSpPr>
        <p:spPr/>
        <p:txBody>
          <a:bodyPr/>
          <a:lstStyle/>
          <a:p>
            <a:fld id="{87ACCF74-76A4-4B7C-AE89-E33624618226}" type="slidenum">
              <a:rPr lang="en-IN" smtClean="0"/>
              <a:t>‹#›</a:t>
            </a:fld>
            <a:endParaRPr lang="en-IN" dirty="0"/>
          </a:p>
        </p:txBody>
      </p:sp>
    </p:spTree>
    <p:extLst>
      <p:ext uri="{BB962C8B-B14F-4D97-AF65-F5344CB8AC3E}">
        <p14:creationId xmlns:p14="http://schemas.microsoft.com/office/powerpoint/2010/main" val="1902211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B64E1-FD09-3ED7-22D5-2761F5F951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94AE8E1-E1B9-9E9C-D7A3-3CC73DF0D4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25B588E2-B6B1-7B11-FF39-B88064B29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6FFB64-BAD6-23C3-4637-0AE7C7C44BA6}"/>
              </a:ext>
            </a:extLst>
          </p:cNvPr>
          <p:cNvSpPr>
            <a:spLocks noGrp="1"/>
          </p:cNvSpPr>
          <p:nvPr>
            <p:ph type="dt" sz="half" idx="10"/>
          </p:nvPr>
        </p:nvSpPr>
        <p:spPr/>
        <p:txBody>
          <a:bodyPr/>
          <a:lstStyle/>
          <a:p>
            <a:r>
              <a:rPr lang="en-IN" dirty="0"/>
              <a:t>BMEE497J - Project I - School of Mechanical Engineering</a:t>
            </a:r>
          </a:p>
        </p:txBody>
      </p:sp>
      <p:sp>
        <p:nvSpPr>
          <p:cNvPr id="6" name="Footer Placeholder 5">
            <a:extLst>
              <a:ext uri="{FF2B5EF4-FFF2-40B4-BE49-F238E27FC236}">
                <a16:creationId xmlns:a16="http://schemas.microsoft.com/office/drawing/2014/main" id="{941133EF-112D-FBE8-14DA-F6EF602E91FE}"/>
              </a:ext>
            </a:extLst>
          </p:cNvPr>
          <p:cNvSpPr>
            <a:spLocks noGrp="1"/>
          </p:cNvSpPr>
          <p:nvPr>
            <p:ph type="ftr" sz="quarter" idx="11"/>
          </p:nvPr>
        </p:nvSpPr>
        <p:spPr/>
        <p:txBody>
          <a:bodyPr/>
          <a:lstStyle/>
          <a:p>
            <a:r>
              <a:rPr lang="en-IN" dirty="0"/>
              <a:t>SMEC, Project Review</a:t>
            </a:r>
          </a:p>
        </p:txBody>
      </p:sp>
      <p:sp>
        <p:nvSpPr>
          <p:cNvPr id="7" name="Slide Number Placeholder 6">
            <a:extLst>
              <a:ext uri="{FF2B5EF4-FFF2-40B4-BE49-F238E27FC236}">
                <a16:creationId xmlns:a16="http://schemas.microsoft.com/office/drawing/2014/main" id="{CBA1DEDB-C0CE-6D99-C7AB-0FB84561FB9B}"/>
              </a:ext>
            </a:extLst>
          </p:cNvPr>
          <p:cNvSpPr>
            <a:spLocks noGrp="1"/>
          </p:cNvSpPr>
          <p:nvPr>
            <p:ph type="sldNum" sz="quarter" idx="12"/>
          </p:nvPr>
        </p:nvSpPr>
        <p:spPr/>
        <p:txBody>
          <a:bodyPr/>
          <a:lstStyle/>
          <a:p>
            <a:fld id="{87ACCF74-76A4-4B7C-AE89-E33624618226}" type="slidenum">
              <a:rPr lang="en-IN" smtClean="0"/>
              <a:t>‹#›</a:t>
            </a:fld>
            <a:endParaRPr lang="en-IN" dirty="0"/>
          </a:p>
        </p:txBody>
      </p:sp>
    </p:spTree>
    <p:extLst>
      <p:ext uri="{BB962C8B-B14F-4D97-AF65-F5344CB8AC3E}">
        <p14:creationId xmlns:p14="http://schemas.microsoft.com/office/powerpoint/2010/main" val="3165460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1120A-2165-97A7-DC7E-0F205387949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9EF290-F8C5-D965-8C12-1C3C63EED8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718D98-A569-3C06-2351-123123904EEC}"/>
              </a:ext>
            </a:extLst>
          </p:cNvPr>
          <p:cNvSpPr>
            <a:spLocks noGrp="1"/>
          </p:cNvSpPr>
          <p:nvPr>
            <p:ph type="dt" sz="half" idx="10"/>
          </p:nvPr>
        </p:nvSpPr>
        <p:spPr/>
        <p:txBody>
          <a:bodyPr/>
          <a:lstStyle/>
          <a:p>
            <a:r>
              <a:rPr lang="en-IN" dirty="0"/>
              <a:t>BMEE497J - Project I - School of Mechanical Engineering</a:t>
            </a:r>
          </a:p>
        </p:txBody>
      </p:sp>
      <p:sp>
        <p:nvSpPr>
          <p:cNvPr id="5" name="Footer Placeholder 4">
            <a:extLst>
              <a:ext uri="{FF2B5EF4-FFF2-40B4-BE49-F238E27FC236}">
                <a16:creationId xmlns:a16="http://schemas.microsoft.com/office/drawing/2014/main" id="{01202261-7B0E-ED15-FB05-F50A3D861619}"/>
              </a:ext>
            </a:extLst>
          </p:cNvPr>
          <p:cNvSpPr>
            <a:spLocks noGrp="1"/>
          </p:cNvSpPr>
          <p:nvPr>
            <p:ph type="ftr" sz="quarter" idx="11"/>
          </p:nvPr>
        </p:nvSpPr>
        <p:spPr/>
        <p:txBody>
          <a:bodyPr/>
          <a:lstStyle/>
          <a:p>
            <a:r>
              <a:rPr lang="en-IN" dirty="0"/>
              <a:t>SMEC, Project Review</a:t>
            </a:r>
          </a:p>
        </p:txBody>
      </p:sp>
      <p:sp>
        <p:nvSpPr>
          <p:cNvPr id="6" name="Slide Number Placeholder 5">
            <a:extLst>
              <a:ext uri="{FF2B5EF4-FFF2-40B4-BE49-F238E27FC236}">
                <a16:creationId xmlns:a16="http://schemas.microsoft.com/office/drawing/2014/main" id="{695EF3EB-7531-0F79-C88F-B7D68877EBC0}"/>
              </a:ext>
            </a:extLst>
          </p:cNvPr>
          <p:cNvSpPr>
            <a:spLocks noGrp="1"/>
          </p:cNvSpPr>
          <p:nvPr>
            <p:ph type="sldNum" sz="quarter" idx="12"/>
          </p:nvPr>
        </p:nvSpPr>
        <p:spPr/>
        <p:txBody>
          <a:bodyPr/>
          <a:lstStyle/>
          <a:p>
            <a:fld id="{87ACCF74-76A4-4B7C-AE89-E33624618226}" type="slidenum">
              <a:rPr lang="en-IN" smtClean="0"/>
              <a:t>‹#›</a:t>
            </a:fld>
            <a:endParaRPr lang="en-IN" dirty="0"/>
          </a:p>
        </p:txBody>
      </p:sp>
    </p:spTree>
    <p:extLst>
      <p:ext uri="{BB962C8B-B14F-4D97-AF65-F5344CB8AC3E}">
        <p14:creationId xmlns:p14="http://schemas.microsoft.com/office/powerpoint/2010/main" val="3945522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B8E999-1353-3507-D410-5C975CA167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FB8B0A-23A7-55F4-8E95-A19FF8887A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B30819-4AAE-0EAA-4232-82D3ACFA873D}"/>
              </a:ext>
            </a:extLst>
          </p:cNvPr>
          <p:cNvSpPr>
            <a:spLocks noGrp="1"/>
          </p:cNvSpPr>
          <p:nvPr>
            <p:ph type="dt" sz="half" idx="10"/>
          </p:nvPr>
        </p:nvSpPr>
        <p:spPr/>
        <p:txBody>
          <a:bodyPr/>
          <a:lstStyle/>
          <a:p>
            <a:r>
              <a:rPr lang="en-IN" dirty="0"/>
              <a:t>BMEE497J - Project I - School of Mechanical Engineering</a:t>
            </a:r>
          </a:p>
        </p:txBody>
      </p:sp>
      <p:sp>
        <p:nvSpPr>
          <p:cNvPr id="5" name="Footer Placeholder 4">
            <a:extLst>
              <a:ext uri="{FF2B5EF4-FFF2-40B4-BE49-F238E27FC236}">
                <a16:creationId xmlns:a16="http://schemas.microsoft.com/office/drawing/2014/main" id="{DCD834BF-C377-E5C4-A629-DDDC189E1317}"/>
              </a:ext>
            </a:extLst>
          </p:cNvPr>
          <p:cNvSpPr>
            <a:spLocks noGrp="1"/>
          </p:cNvSpPr>
          <p:nvPr>
            <p:ph type="ftr" sz="quarter" idx="11"/>
          </p:nvPr>
        </p:nvSpPr>
        <p:spPr/>
        <p:txBody>
          <a:bodyPr/>
          <a:lstStyle/>
          <a:p>
            <a:r>
              <a:rPr lang="en-IN" dirty="0"/>
              <a:t>SMEC, Project Review</a:t>
            </a:r>
          </a:p>
        </p:txBody>
      </p:sp>
      <p:sp>
        <p:nvSpPr>
          <p:cNvPr id="6" name="Slide Number Placeholder 5">
            <a:extLst>
              <a:ext uri="{FF2B5EF4-FFF2-40B4-BE49-F238E27FC236}">
                <a16:creationId xmlns:a16="http://schemas.microsoft.com/office/drawing/2014/main" id="{D23A2858-3EDC-2957-CC77-AD9E46044AFC}"/>
              </a:ext>
            </a:extLst>
          </p:cNvPr>
          <p:cNvSpPr>
            <a:spLocks noGrp="1"/>
          </p:cNvSpPr>
          <p:nvPr>
            <p:ph type="sldNum" sz="quarter" idx="12"/>
          </p:nvPr>
        </p:nvSpPr>
        <p:spPr/>
        <p:txBody>
          <a:bodyPr/>
          <a:lstStyle/>
          <a:p>
            <a:fld id="{87ACCF74-76A4-4B7C-AE89-E33624618226}" type="slidenum">
              <a:rPr lang="en-IN" smtClean="0"/>
              <a:t>‹#›</a:t>
            </a:fld>
            <a:endParaRPr lang="en-IN" dirty="0"/>
          </a:p>
        </p:txBody>
      </p:sp>
    </p:spTree>
    <p:extLst>
      <p:ext uri="{BB962C8B-B14F-4D97-AF65-F5344CB8AC3E}">
        <p14:creationId xmlns:p14="http://schemas.microsoft.com/office/powerpoint/2010/main" val="1437785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8736B7-3800-3E48-0482-DD4372B0F7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26C1B8-2D5E-2828-11B0-54544DEBB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074968-3F32-5C12-7668-0FF58354A7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dirty="0"/>
              <a:t>BMEE497J - Project I - School of Mechanical Engineering</a:t>
            </a:r>
          </a:p>
        </p:txBody>
      </p:sp>
      <p:sp>
        <p:nvSpPr>
          <p:cNvPr id="5" name="Footer Placeholder 4">
            <a:extLst>
              <a:ext uri="{FF2B5EF4-FFF2-40B4-BE49-F238E27FC236}">
                <a16:creationId xmlns:a16="http://schemas.microsoft.com/office/drawing/2014/main" id="{08AD187F-6836-6A8C-6020-FA2E825AFB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SMEC, Project Review</a:t>
            </a:r>
          </a:p>
        </p:txBody>
      </p:sp>
      <p:sp>
        <p:nvSpPr>
          <p:cNvPr id="6" name="Slide Number Placeholder 5">
            <a:extLst>
              <a:ext uri="{FF2B5EF4-FFF2-40B4-BE49-F238E27FC236}">
                <a16:creationId xmlns:a16="http://schemas.microsoft.com/office/drawing/2014/main" id="{61A6CB3E-9083-6972-E419-1131B60F06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ACCF74-76A4-4B7C-AE89-E33624618226}" type="slidenum">
              <a:rPr lang="en-IN" smtClean="0"/>
              <a:t>‹#›</a:t>
            </a:fld>
            <a:endParaRPr lang="en-IN" dirty="0"/>
          </a:p>
        </p:txBody>
      </p:sp>
    </p:spTree>
    <p:extLst>
      <p:ext uri="{BB962C8B-B14F-4D97-AF65-F5344CB8AC3E}">
        <p14:creationId xmlns:p14="http://schemas.microsoft.com/office/powerpoint/2010/main" val="3347045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doi.org/10.1186/s41239-019-0171-0" TargetMode="External"/><Relationship Id="rId3" Type="http://schemas.microsoft.com/office/2007/relationships/hdphoto" Target="../media/hdphoto1.wdp"/><Relationship Id="rId7" Type="http://schemas.openxmlformats.org/officeDocument/2006/relationships/hyperlink" Target="https://doi.org/10.1109/MIPRO.2015.7160422"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s://arxiv.org/abs/2212.04356" TargetMode="External"/><Relationship Id="rId5" Type="http://schemas.openxmlformats.org/officeDocument/2006/relationships/hyperlink" Target="https://arxiv.org/abs/2005.14165" TargetMode="External"/><Relationship Id="rId10" Type="http://schemas.openxmlformats.org/officeDocument/2006/relationships/hyperlink" Target="https://arxiv.org/abs/1902.03383" TargetMode="External"/><Relationship Id="rId4" Type="http://schemas.openxmlformats.org/officeDocument/2006/relationships/hyperlink" Target="https://doi.org/10.1287/mnsc.2013.1755" TargetMode="External"/><Relationship Id="rId9" Type="http://schemas.openxmlformats.org/officeDocument/2006/relationships/hyperlink" Target="https://arxiv.org/abs/2203.02155"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ody of water with trees and buildings in the background&#10;&#10;Description automatically generated">
            <a:extLst>
              <a:ext uri="{FF2B5EF4-FFF2-40B4-BE49-F238E27FC236}">
                <a16:creationId xmlns:a16="http://schemas.microsoft.com/office/drawing/2014/main" id="{686339CF-6C5E-FAA4-5333-D59AF105C52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1314" b="46904"/>
          <a:stretch/>
        </p:blipFill>
        <p:spPr>
          <a:xfrm>
            <a:off x="0" y="4678386"/>
            <a:ext cx="12192000" cy="2179614"/>
          </a:xfrm>
          <a:prstGeom prst="rect">
            <a:avLst/>
          </a:prstGeom>
        </p:spPr>
      </p:pic>
      <p:pic>
        <p:nvPicPr>
          <p:cNvPr id="2" name="Picture 1" descr="Logo&#10;&#10;Description automatically generated">
            <a:extLst>
              <a:ext uri="{FF2B5EF4-FFF2-40B4-BE49-F238E27FC236}">
                <a16:creationId xmlns:a16="http://schemas.microsoft.com/office/drawing/2014/main" id="{2D831E08-EF60-4823-A18C-E56085908A1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5481" y="1967153"/>
            <a:ext cx="2461038" cy="668155"/>
          </a:xfrm>
          <a:prstGeom prst="rect">
            <a:avLst/>
          </a:prstGeom>
          <a:noFill/>
          <a:ln>
            <a:noFill/>
          </a:ln>
        </p:spPr>
      </p:pic>
      <p:sp>
        <p:nvSpPr>
          <p:cNvPr id="3" name="Title 7">
            <a:extLst>
              <a:ext uri="{FF2B5EF4-FFF2-40B4-BE49-F238E27FC236}">
                <a16:creationId xmlns:a16="http://schemas.microsoft.com/office/drawing/2014/main" id="{4A6F4FC5-BF7E-4B39-9D08-166BD56C0C4E}"/>
              </a:ext>
            </a:extLst>
          </p:cNvPr>
          <p:cNvSpPr txBox="1">
            <a:spLocks/>
          </p:cNvSpPr>
          <p:nvPr/>
        </p:nvSpPr>
        <p:spPr>
          <a:xfrm>
            <a:off x="0" y="195867"/>
            <a:ext cx="12192000" cy="565555"/>
          </a:xfrm>
          <a:prstGeom prst="rect">
            <a:avLst/>
          </a:prstGeom>
        </p:spPr>
        <p:txBody>
          <a:bodyPr vert="horz" lIns="91440" tIns="45720" rIns="91440" bIns="45720" rtlCol="0" anchor="b">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b="1" dirty="0">
                <a:solidFill>
                  <a:srgbClr val="0033CC"/>
                </a:solidFill>
                <a:latin typeface="Cambria" panose="02040503050406030204" pitchFamily="18" charset="0"/>
              </a:rPr>
              <a:t>Pitch Gym: AI-Powered Investor Simulation for Startup Pitch Training</a:t>
            </a:r>
            <a:endParaRPr lang="en-IN" sz="2800" b="1" dirty="0">
              <a:solidFill>
                <a:srgbClr val="0033CC"/>
              </a:solidFill>
              <a:latin typeface="Cambria" panose="02040503050406030204" pitchFamily="18" charset="0"/>
            </a:endParaRPr>
          </a:p>
        </p:txBody>
      </p:sp>
      <p:sp>
        <p:nvSpPr>
          <p:cNvPr id="9" name="Rectangle 8">
            <a:extLst>
              <a:ext uri="{FF2B5EF4-FFF2-40B4-BE49-F238E27FC236}">
                <a16:creationId xmlns:a16="http://schemas.microsoft.com/office/drawing/2014/main" id="{FBF4629C-B15F-49E0-8EB8-4BF2E29CCA16}"/>
              </a:ext>
            </a:extLst>
          </p:cNvPr>
          <p:cNvSpPr>
            <a:spLocks noChangeArrowheads="1"/>
          </p:cNvSpPr>
          <p:nvPr/>
        </p:nvSpPr>
        <p:spPr bwMode="auto">
          <a:xfrm>
            <a:off x="0" y="3881810"/>
            <a:ext cx="4762500" cy="707886"/>
          </a:xfrm>
          <a:prstGeom prst="rect">
            <a:avLst/>
          </a:prstGeom>
          <a:noFill/>
          <a:ln w="9525">
            <a:noFill/>
            <a:miter lim="800000"/>
            <a:headEnd/>
            <a:tailEnd/>
          </a:ln>
          <a:effectLst>
            <a:outerShdw blurRad="50800" dist="50800" dir="2700000" algn="tl" rotWithShape="0">
              <a:schemeClr val="bg1">
                <a:alpha val="50000"/>
              </a:schemeClr>
            </a:outerShdw>
          </a:effectLst>
          <a:scene3d>
            <a:camera prst="orthographicFront">
              <a:rot lat="0" lon="0" rev="0"/>
            </a:camera>
            <a:lightRig rig="balanced" dir="t">
              <a:rot lat="0" lon="0" rev="8700000"/>
            </a:lightRig>
          </a:scene3d>
          <a:sp3d extrusionH="114300">
            <a:bevelT w="190500" h="38100"/>
            <a:extrusionClr>
              <a:schemeClr val="bg1"/>
            </a:extrusionClr>
          </a:sp3d>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2000" b="1" i="0" u="none" dirty="0">
                <a:latin typeface="Cambria" panose="02040503050406030204" pitchFamily="18" charset="0"/>
              </a:rPr>
              <a:t>Project Guide: Dr. Sarwesh P</a:t>
            </a:r>
          </a:p>
          <a:p>
            <a:pPr>
              <a:defRPr/>
            </a:pPr>
            <a:r>
              <a:rPr lang="en-US" sz="2000" b="1" dirty="0">
                <a:latin typeface="Cambria" panose="02040503050406030204" pitchFamily="18" charset="0"/>
              </a:rPr>
              <a:t>School: SCOPE</a:t>
            </a:r>
            <a:endParaRPr lang="en-US" sz="2000" b="1" i="0" u="none" dirty="0">
              <a:latin typeface="Cambria" panose="02040503050406030204" pitchFamily="18" charset="0"/>
            </a:endParaRPr>
          </a:p>
        </p:txBody>
      </p:sp>
      <p:sp>
        <p:nvSpPr>
          <p:cNvPr id="10" name="Rectangle 9">
            <a:extLst>
              <a:ext uri="{FF2B5EF4-FFF2-40B4-BE49-F238E27FC236}">
                <a16:creationId xmlns:a16="http://schemas.microsoft.com/office/drawing/2014/main" id="{EFB2AC1F-C442-4C3E-B727-E303B2CE8E4B}"/>
              </a:ext>
            </a:extLst>
          </p:cNvPr>
          <p:cNvSpPr>
            <a:spLocks noChangeArrowheads="1"/>
          </p:cNvSpPr>
          <p:nvPr/>
        </p:nvSpPr>
        <p:spPr bwMode="auto">
          <a:xfrm>
            <a:off x="1263" y="1095368"/>
            <a:ext cx="121907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dirty="0">
                <a:solidFill>
                  <a:srgbClr val="002060"/>
                </a:solidFill>
                <a:latin typeface="Cambria" panose="02040503050406030204" pitchFamily="18" charset="0"/>
              </a:rPr>
              <a:t>Henil Diwan  22BCE3962</a:t>
            </a:r>
          </a:p>
        </p:txBody>
      </p:sp>
      <p:sp>
        <p:nvSpPr>
          <p:cNvPr id="18" name="Rectangle 17">
            <a:extLst>
              <a:ext uri="{FF2B5EF4-FFF2-40B4-BE49-F238E27FC236}">
                <a16:creationId xmlns:a16="http://schemas.microsoft.com/office/drawing/2014/main" id="{E890DA2B-D29B-46CA-8063-06ED9FEFE519}"/>
              </a:ext>
            </a:extLst>
          </p:cNvPr>
          <p:cNvSpPr>
            <a:spLocks noChangeArrowheads="1"/>
          </p:cNvSpPr>
          <p:nvPr/>
        </p:nvSpPr>
        <p:spPr bwMode="auto">
          <a:xfrm>
            <a:off x="3091818" y="3311096"/>
            <a:ext cx="60083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solidFill>
                  <a:srgbClr val="C00000"/>
                </a:solidFill>
                <a:latin typeface="Cambria" panose="02040503050406030204" pitchFamily="18" charset="0"/>
              </a:rPr>
              <a:t>Final </a:t>
            </a:r>
            <a:r>
              <a:rPr lang="en-US" sz="2000" b="1" i="0" u="none" dirty="0">
                <a:solidFill>
                  <a:srgbClr val="C00000"/>
                </a:solidFill>
                <a:latin typeface="Cambria" panose="02040503050406030204" pitchFamily="18" charset="0"/>
              </a:rPr>
              <a:t>Review</a:t>
            </a:r>
          </a:p>
        </p:txBody>
      </p:sp>
      <p:sp>
        <p:nvSpPr>
          <p:cNvPr id="19" name="Rectangle 18">
            <a:extLst>
              <a:ext uri="{FF2B5EF4-FFF2-40B4-BE49-F238E27FC236}">
                <a16:creationId xmlns:a16="http://schemas.microsoft.com/office/drawing/2014/main" id="{61580B04-8091-4932-B37B-C73D71C39312}"/>
              </a:ext>
            </a:extLst>
          </p:cNvPr>
          <p:cNvSpPr>
            <a:spLocks noChangeArrowheads="1"/>
          </p:cNvSpPr>
          <p:nvPr/>
        </p:nvSpPr>
        <p:spPr bwMode="auto">
          <a:xfrm>
            <a:off x="2468879" y="2805086"/>
            <a:ext cx="7254239" cy="461665"/>
          </a:xfrm>
          <a:prstGeom prst="rect">
            <a:avLst/>
          </a:prstGeom>
          <a:noFill/>
          <a:ln w="9525">
            <a:noFill/>
            <a:miter lim="800000"/>
            <a:headEnd/>
            <a:tailEnd/>
          </a:ln>
          <a:effectLst>
            <a:outerShdw blurRad="101600" dist="50800" dir="2700000" algn="tl" rotWithShape="0">
              <a:schemeClr val="bg1">
                <a:alpha val="50000"/>
              </a:schemeClr>
            </a:outerShdw>
          </a:effectLst>
          <a:scene3d>
            <a:camera prst="orthographicFront">
              <a:rot lat="0" lon="0" rev="0"/>
            </a:camera>
            <a:lightRig rig="balanced" dir="t">
              <a:rot lat="0" lon="0" rev="8700000"/>
            </a:lightRig>
          </a:scene3d>
          <a:sp3d>
            <a:bevelT w="190500" h="38100"/>
          </a:sp3d>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400" b="1" i="0" u="none" dirty="0">
                <a:latin typeface="Cambria" panose="02040503050406030204" pitchFamily="18" charset="0"/>
              </a:rPr>
              <a:t>School of </a:t>
            </a:r>
            <a:r>
              <a:rPr lang="en-US" sz="2400" b="1" dirty="0">
                <a:latin typeface="Cambria" panose="02040503050406030204" pitchFamily="18" charset="0"/>
              </a:rPr>
              <a:t>Computer Science and Engineering</a:t>
            </a:r>
            <a:endParaRPr lang="en-US" sz="2400" b="1" i="0" u="none" dirty="0">
              <a:latin typeface="Cambria" panose="02040503050406030204" pitchFamily="18" charset="0"/>
            </a:endParaRPr>
          </a:p>
        </p:txBody>
      </p:sp>
    </p:spTree>
    <p:extLst>
      <p:ext uri="{BB962C8B-B14F-4D97-AF65-F5344CB8AC3E}">
        <p14:creationId xmlns:p14="http://schemas.microsoft.com/office/powerpoint/2010/main" val="2665711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txBox="1">
            <a:spLocks/>
          </p:cNvSpPr>
          <p:nvPr/>
        </p:nvSpPr>
        <p:spPr bwMode="gray">
          <a:xfrm>
            <a:off x="460502" y="276286"/>
            <a:ext cx="7857597" cy="9546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lgn="l" defTabSz="1042988" rtl="0" eaLnBrk="0" fontAlgn="base" hangingPunct="0">
              <a:spcBef>
                <a:spcPct val="0"/>
              </a:spcBef>
              <a:spcAft>
                <a:spcPct val="0"/>
              </a:spcAft>
              <a:defRPr sz="2400" b="1">
                <a:solidFill>
                  <a:schemeClr val="tx1"/>
                </a:solidFill>
                <a:latin typeface="+mj-lt"/>
                <a:ea typeface="+mj-ea"/>
                <a:cs typeface="+mj-cs"/>
              </a:defRPr>
            </a:lvl1pPr>
            <a:lvl2pPr algn="l" defTabSz="1042988" rtl="0" eaLnBrk="0" fontAlgn="base" hangingPunct="0">
              <a:spcBef>
                <a:spcPct val="0"/>
              </a:spcBef>
              <a:spcAft>
                <a:spcPct val="0"/>
              </a:spcAft>
              <a:defRPr sz="2400" b="1">
                <a:solidFill>
                  <a:schemeClr val="tx1"/>
                </a:solidFill>
                <a:latin typeface="Arial" charset="0"/>
                <a:cs typeface="Arial" charset="0"/>
              </a:defRPr>
            </a:lvl2pPr>
            <a:lvl3pPr algn="l" defTabSz="1042988" rtl="0" eaLnBrk="0" fontAlgn="base" hangingPunct="0">
              <a:spcBef>
                <a:spcPct val="0"/>
              </a:spcBef>
              <a:spcAft>
                <a:spcPct val="0"/>
              </a:spcAft>
              <a:defRPr sz="2400" b="1">
                <a:solidFill>
                  <a:schemeClr val="tx1"/>
                </a:solidFill>
                <a:latin typeface="Arial" charset="0"/>
                <a:cs typeface="Arial" charset="0"/>
              </a:defRPr>
            </a:lvl3pPr>
            <a:lvl4pPr algn="l" defTabSz="1042988" rtl="0" eaLnBrk="0" fontAlgn="base" hangingPunct="0">
              <a:spcBef>
                <a:spcPct val="0"/>
              </a:spcBef>
              <a:spcAft>
                <a:spcPct val="0"/>
              </a:spcAft>
              <a:defRPr sz="2400" b="1">
                <a:solidFill>
                  <a:schemeClr val="tx1"/>
                </a:solidFill>
                <a:latin typeface="Arial" charset="0"/>
                <a:cs typeface="Arial" charset="0"/>
              </a:defRPr>
            </a:lvl4pPr>
            <a:lvl5pPr algn="l" defTabSz="1042988" rtl="0" eaLnBrk="0" fontAlgn="base" hangingPunct="0">
              <a:spcBef>
                <a:spcPct val="0"/>
              </a:spcBef>
              <a:spcAft>
                <a:spcPct val="0"/>
              </a:spcAft>
              <a:defRPr sz="2400" b="1">
                <a:solidFill>
                  <a:schemeClr val="tx1"/>
                </a:solidFill>
                <a:latin typeface="Arial" charset="0"/>
                <a:cs typeface="Arial" charset="0"/>
              </a:defRPr>
            </a:lvl5pPr>
            <a:lvl6pPr marL="457200" algn="l" defTabSz="1042988" rtl="0" fontAlgn="base">
              <a:spcBef>
                <a:spcPct val="0"/>
              </a:spcBef>
              <a:spcAft>
                <a:spcPct val="0"/>
              </a:spcAft>
              <a:defRPr sz="1600">
                <a:solidFill>
                  <a:schemeClr val="tx1"/>
                </a:solidFill>
                <a:latin typeface="Arial" charset="0"/>
                <a:cs typeface="Arial" charset="0"/>
              </a:defRPr>
            </a:lvl6pPr>
            <a:lvl7pPr marL="914400" algn="l" defTabSz="1042988" rtl="0" fontAlgn="base">
              <a:spcBef>
                <a:spcPct val="0"/>
              </a:spcBef>
              <a:spcAft>
                <a:spcPct val="0"/>
              </a:spcAft>
              <a:defRPr sz="1600">
                <a:solidFill>
                  <a:schemeClr val="tx1"/>
                </a:solidFill>
                <a:latin typeface="Arial" charset="0"/>
                <a:cs typeface="Arial" charset="0"/>
              </a:defRPr>
            </a:lvl7pPr>
            <a:lvl8pPr marL="1371600" algn="l" defTabSz="1042988" rtl="0" fontAlgn="base">
              <a:spcBef>
                <a:spcPct val="0"/>
              </a:spcBef>
              <a:spcAft>
                <a:spcPct val="0"/>
              </a:spcAft>
              <a:defRPr sz="1600">
                <a:solidFill>
                  <a:schemeClr val="tx1"/>
                </a:solidFill>
                <a:latin typeface="Arial" charset="0"/>
                <a:cs typeface="Arial" charset="0"/>
              </a:defRPr>
            </a:lvl8pPr>
            <a:lvl9pPr marL="1828800" algn="l" defTabSz="1042988" rtl="0" fontAlgn="base">
              <a:spcBef>
                <a:spcPct val="0"/>
              </a:spcBef>
              <a:spcAft>
                <a:spcPct val="0"/>
              </a:spcAft>
              <a:defRPr sz="1600">
                <a:solidFill>
                  <a:schemeClr val="tx1"/>
                </a:solidFill>
                <a:latin typeface="Arial" charset="0"/>
                <a:cs typeface="Arial" charset="0"/>
              </a:defRPr>
            </a:lvl9pPr>
          </a:lstStyle>
          <a:p>
            <a:pPr defTabSz="914400" eaLnBrk="1" fontAlgn="auto" hangingPunct="1">
              <a:lnSpc>
                <a:spcPct val="90000"/>
              </a:lnSpc>
              <a:spcAft>
                <a:spcPts val="600"/>
              </a:spcAft>
              <a:defRPr/>
            </a:pPr>
            <a:r>
              <a:rPr lang="en-US" sz="4000" kern="1200" dirty="0">
                <a:solidFill>
                  <a:srgbClr val="FFFFFF"/>
                </a:solidFill>
                <a:latin typeface="Cambria" panose="02040503050406030204" pitchFamily="18" charset="0"/>
                <a:ea typeface="Cambria" panose="02040503050406030204" pitchFamily="18" charset="0"/>
              </a:rPr>
              <a:t>Synopsis</a:t>
            </a:r>
          </a:p>
        </p:txBody>
      </p:sp>
      <p:pic>
        <p:nvPicPr>
          <p:cNvPr id="7" name="Picture 6" descr="Logo&#10;&#10;Description automatically generated">
            <a:extLst>
              <a:ext uri="{FF2B5EF4-FFF2-40B4-BE49-F238E27FC236}">
                <a16:creationId xmlns:a16="http://schemas.microsoft.com/office/drawing/2014/main" id="{F9661D63-0C3B-FDF6-A4F2-DC579BF99F20}"/>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9023847" y="419332"/>
            <a:ext cx="2462400" cy="668525"/>
          </a:xfrm>
          <a:prstGeom prst="rect">
            <a:avLst/>
          </a:prstGeom>
          <a:noFill/>
          <a:ln>
            <a:noFill/>
          </a:ln>
        </p:spPr>
      </p:pic>
      <p:sp>
        <p:nvSpPr>
          <p:cNvPr id="2" name="Slide Number Placeholder 1">
            <a:extLst>
              <a:ext uri="{FF2B5EF4-FFF2-40B4-BE49-F238E27FC236}">
                <a16:creationId xmlns:a16="http://schemas.microsoft.com/office/drawing/2014/main" id="{01CD00CD-B19F-EA28-0901-9C65F27EEB9C}"/>
              </a:ext>
            </a:extLst>
          </p:cNvPr>
          <p:cNvSpPr>
            <a:spLocks noGrp="1"/>
          </p:cNvSpPr>
          <p:nvPr>
            <p:ph type="sldNum" sz="quarter" idx="12"/>
          </p:nvPr>
        </p:nvSpPr>
        <p:spPr/>
        <p:txBody>
          <a:bodyPr/>
          <a:lstStyle/>
          <a:p>
            <a:fld id="{87ACCF74-76A4-4B7C-AE89-E33624618226}" type="slidenum">
              <a:rPr lang="en-IN" smtClean="0"/>
              <a:t>2</a:t>
            </a:fld>
            <a:endParaRPr lang="en-IN" dirty="0"/>
          </a:p>
        </p:txBody>
      </p:sp>
      <p:sp>
        <p:nvSpPr>
          <p:cNvPr id="4" name="Rectangle 1">
            <a:extLst>
              <a:ext uri="{FF2B5EF4-FFF2-40B4-BE49-F238E27FC236}">
                <a16:creationId xmlns:a16="http://schemas.microsoft.com/office/drawing/2014/main" id="{379672B2-166F-9B03-F11E-CCA6F051D76F}"/>
              </a:ext>
            </a:extLst>
          </p:cNvPr>
          <p:cNvSpPr>
            <a:spLocks noGrp="1" noChangeArrowheads="1"/>
          </p:cNvSpPr>
          <p:nvPr>
            <p:ph idx="1"/>
          </p:nvPr>
        </p:nvSpPr>
        <p:spPr bwMode="auto">
          <a:xfrm>
            <a:off x="387529" y="1955144"/>
            <a:ext cx="1141693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None/>
              <a:tabLst/>
            </a:pPr>
            <a:r>
              <a:rPr lang="en-US" altLang="en-US" sz="2000" dirty="0">
                <a:latin typeface="Cambria" panose="02040503050406030204" pitchFamily="18" charset="0"/>
                <a:ea typeface="Cambria" panose="02040503050406030204" pitchFamily="18" charset="0"/>
                <a:cs typeface="Arial" panose="020B0604020202020204" pitchFamily="34" charset="0"/>
              </a:rPr>
              <a:t>Pitch Gym - a web platform where founders practice investor pitches through real-time voice AI conversations and receive structured, quantitative feedback.</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Key Features:</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10 distinct pitch types covering various entrepreneurial scenarios: from Idea Validation to Investor Skeptic Mode</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AI investor personas that ask probing questions, challenge assumptions, and behave like real investors</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Structured per-category scoring (1–5) with identified strengths, weaknesses, and actionable improvement suggestions</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Founder analytics dashboard with score trends, skill radar, and pitch type distribution charts</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Context carry-forward: each session can build on prior feedback for progressive coaching</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Credit-based monetization with </a:t>
            </a: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Razorpay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 payment integration</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3925694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1" name="Rectangle 308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3" name="Rectangle 308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5" name="Rectangle 308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7" name="Freeform: Shape 308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89" name="Rectangle 308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66722" y="586855"/>
            <a:ext cx="3201366" cy="3387497"/>
          </a:xfrm>
        </p:spPr>
        <p:txBody>
          <a:bodyPr anchor="b">
            <a:normAutofit/>
          </a:bodyPr>
          <a:lstStyle/>
          <a:p>
            <a:pPr algn="ctr"/>
            <a:r>
              <a:rPr lang="en-IN" sz="3200" dirty="0">
                <a:solidFill>
                  <a:srgbClr val="FFFFFF"/>
                </a:solidFill>
                <a:latin typeface="Cambria" panose="02040503050406030204" pitchFamily="18" charset="0"/>
              </a:rPr>
              <a:t>PROBLEM</a:t>
            </a:r>
            <a:br>
              <a:rPr lang="en-IN" sz="3200" dirty="0">
                <a:solidFill>
                  <a:srgbClr val="FFFFFF"/>
                </a:solidFill>
                <a:latin typeface="Cambria" panose="02040503050406030204" pitchFamily="18" charset="0"/>
              </a:rPr>
            </a:br>
            <a:r>
              <a:rPr lang="en-IN" sz="3200" dirty="0">
                <a:solidFill>
                  <a:srgbClr val="FFFFFF"/>
                </a:solidFill>
                <a:latin typeface="Cambria" panose="02040503050406030204" pitchFamily="18" charset="0"/>
              </a:rPr>
              <a:t>STATEMENT</a:t>
            </a:r>
            <a:endParaRPr lang="en-IN" sz="4000" i="1" dirty="0">
              <a:solidFill>
                <a:srgbClr val="FFFF00"/>
              </a:solidFill>
              <a:latin typeface="Cambria" panose="02040503050406030204" pitchFamily="18" charset="0"/>
            </a:endParaRPr>
          </a:p>
        </p:txBody>
      </p:sp>
      <p:sp>
        <p:nvSpPr>
          <p:cNvPr id="3" name="Content Placeholder 2"/>
          <p:cNvSpPr>
            <a:spLocks noGrp="1"/>
          </p:cNvSpPr>
          <p:nvPr>
            <p:ph idx="1"/>
          </p:nvPr>
        </p:nvSpPr>
        <p:spPr>
          <a:xfrm>
            <a:off x="4214949" y="949235"/>
            <a:ext cx="7750627" cy="5407116"/>
          </a:xfrm>
        </p:spPr>
        <p:txBody>
          <a:bodyPr anchor="ctr">
            <a:normAutofit/>
          </a:bodyPr>
          <a:lstStyle/>
          <a:p>
            <a:r>
              <a:rPr lang="en-US" sz="1800" dirty="0">
                <a:latin typeface="Cambria" panose="02040503050406030204" pitchFamily="18" charset="0"/>
              </a:rPr>
              <a:t>305M+ startups launched annually worldwide, yet over 90% fail</a:t>
            </a:r>
          </a:p>
          <a:p>
            <a:r>
              <a:rPr lang="en-US" sz="1800" dirty="0">
                <a:latin typeface="Cambria" panose="02040503050406030204" pitchFamily="18" charset="0"/>
              </a:rPr>
              <a:t>Poor investor communication is consistently cited as a leading cause of funding failure</a:t>
            </a:r>
          </a:p>
          <a:p>
            <a:r>
              <a:rPr lang="en-US" sz="1800" dirty="0">
                <a:latin typeface="Cambria" panose="02040503050406030204" pitchFamily="18" charset="0"/>
              </a:rPr>
              <a:t>Accelerator programs (YC, Techstars) accept fewer than 3% of applicants and are geographically concentrated</a:t>
            </a:r>
          </a:p>
          <a:p>
            <a:r>
              <a:rPr lang="en-US" sz="1800" dirty="0">
                <a:latin typeface="Cambria" panose="02040503050406030204" pitchFamily="18" charset="0"/>
              </a:rPr>
              <a:t>Human pitch coaches cost $200–500 per session with limited availability and subjective feedback</a:t>
            </a:r>
          </a:p>
          <a:p>
            <a:r>
              <a:rPr lang="en-US" sz="1800" dirty="0">
                <a:latin typeface="Cambria" panose="02040503050406030204" pitchFamily="18" charset="0"/>
              </a:rPr>
              <a:t>Text-based AI tools like ChatGPT and Claude can simulate investor conversations but cannot assess the verbal dimension such as tone, confidence, pacing, and the ability to think on one's feet</a:t>
            </a:r>
          </a:p>
          <a:p>
            <a:r>
              <a:rPr lang="en-US" sz="1800" dirty="0">
                <a:latin typeface="Cambria" panose="02040503050406030204" pitchFamily="18" charset="0"/>
              </a:rPr>
              <a:t>No existing solution combines real-time voice interaction, AI-driven investor simulation, structured quantitative scoring, and longitudinal progress tracking</a:t>
            </a:r>
            <a:endParaRPr lang="en-IN" sz="1800" dirty="0">
              <a:latin typeface="Cambria" panose="02040503050406030204" pitchFamily="18" charset="0"/>
            </a:endParaRPr>
          </a:p>
        </p:txBody>
      </p:sp>
      <p:pic>
        <p:nvPicPr>
          <p:cNvPr id="4" name="Picture 3" descr="Logo&#10;&#10;Description automatically generated">
            <a:extLst>
              <a:ext uri="{FF2B5EF4-FFF2-40B4-BE49-F238E27FC236}">
                <a16:creationId xmlns:a16="http://schemas.microsoft.com/office/drawing/2014/main" id="{EAE59F6A-71CD-0448-43B6-988D75D56D4F}"/>
              </a:ext>
            </a:extLst>
          </p:cNvPr>
          <p:cNvPicPr>
            <a:picLocks noChangeAspect="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9504538" y="281079"/>
            <a:ext cx="2461038" cy="668155"/>
          </a:xfrm>
          <a:prstGeom prst="rect">
            <a:avLst/>
          </a:prstGeom>
          <a:noFill/>
          <a:ln>
            <a:noFill/>
          </a:ln>
        </p:spPr>
      </p:pic>
      <p:sp>
        <p:nvSpPr>
          <p:cNvPr id="5" name="Slide Number Placeholder 4">
            <a:extLst>
              <a:ext uri="{FF2B5EF4-FFF2-40B4-BE49-F238E27FC236}">
                <a16:creationId xmlns:a16="http://schemas.microsoft.com/office/drawing/2014/main" id="{E540B4D5-A65E-F1AF-E354-F866B79153F9}"/>
              </a:ext>
            </a:extLst>
          </p:cNvPr>
          <p:cNvSpPr>
            <a:spLocks noGrp="1"/>
          </p:cNvSpPr>
          <p:nvPr>
            <p:ph type="sldNum" sz="quarter" idx="12"/>
          </p:nvPr>
        </p:nvSpPr>
        <p:spPr/>
        <p:txBody>
          <a:bodyPr/>
          <a:lstStyle/>
          <a:p>
            <a:fld id="{87ACCF74-76A4-4B7C-AE89-E33624618226}" type="slidenum">
              <a:rPr lang="en-IN" smtClean="0"/>
              <a:t>3</a:t>
            </a:fld>
            <a:endParaRPr lang="en-IN" dirty="0"/>
          </a:p>
        </p:txBody>
      </p:sp>
    </p:spTree>
    <p:extLst>
      <p:ext uri="{BB962C8B-B14F-4D97-AF65-F5344CB8AC3E}">
        <p14:creationId xmlns:p14="http://schemas.microsoft.com/office/powerpoint/2010/main" val="1589691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067064-CF97-06BA-9F38-1DF09FC04EB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D064C97-A73C-2A1D-A4C3-BB82A7A28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28EFB0B-8FE8-8253-5F4B-3E3C3F2D5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4EDCF4CA-0CE0-8B7D-281B-BC1EBEE14D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843B607-9D00-475A-F8F3-33CC5723A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9F5AC232-70C9-0E16-4813-24A2D05D7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6E2BF493-8376-0EBE-2E26-2F21E6823428}"/>
              </a:ext>
            </a:extLst>
          </p:cNvPr>
          <p:cNvSpPr txBox="1">
            <a:spLocks/>
          </p:cNvSpPr>
          <p:nvPr/>
        </p:nvSpPr>
        <p:spPr bwMode="gray">
          <a:xfrm>
            <a:off x="460503" y="318061"/>
            <a:ext cx="7857597" cy="9546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lgn="l" defTabSz="1042988" rtl="0" eaLnBrk="0" fontAlgn="base" hangingPunct="0">
              <a:spcBef>
                <a:spcPct val="0"/>
              </a:spcBef>
              <a:spcAft>
                <a:spcPct val="0"/>
              </a:spcAft>
              <a:defRPr sz="2400" b="1">
                <a:solidFill>
                  <a:schemeClr val="tx1"/>
                </a:solidFill>
                <a:latin typeface="+mj-lt"/>
                <a:ea typeface="+mj-ea"/>
                <a:cs typeface="+mj-cs"/>
              </a:defRPr>
            </a:lvl1pPr>
            <a:lvl2pPr algn="l" defTabSz="1042988" rtl="0" eaLnBrk="0" fontAlgn="base" hangingPunct="0">
              <a:spcBef>
                <a:spcPct val="0"/>
              </a:spcBef>
              <a:spcAft>
                <a:spcPct val="0"/>
              </a:spcAft>
              <a:defRPr sz="2400" b="1">
                <a:solidFill>
                  <a:schemeClr val="tx1"/>
                </a:solidFill>
                <a:latin typeface="Arial" charset="0"/>
                <a:cs typeface="Arial" charset="0"/>
              </a:defRPr>
            </a:lvl2pPr>
            <a:lvl3pPr algn="l" defTabSz="1042988" rtl="0" eaLnBrk="0" fontAlgn="base" hangingPunct="0">
              <a:spcBef>
                <a:spcPct val="0"/>
              </a:spcBef>
              <a:spcAft>
                <a:spcPct val="0"/>
              </a:spcAft>
              <a:defRPr sz="2400" b="1">
                <a:solidFill>
                  <a:schemeClr val="tx1"/>
                </a:solidFill>
                <a:latin typeface="Arial" charset="0"/>
                <a:cs typeface="Arial" charset="0"/>
              </a:defRPr>
            </a:lvl3pPr>
            <a:lvl4pPr algn="l" defTabSz="1042988" rtl="0" eaLnBrk="0" fontAlgn="base" hangingPunct="0">
              <a:spcBef>
                <a:spcPct val="0"/>
              </a:spcBef>
              <a:spcAft>
                <a:spcPct val="0"/>
              </a:spcAft>
              <a:defRPr sz="2400" b="1">
                <a:solidFill>
                  <a:schemeClr val="tx1"/>
                </a:solidFill>
                <a:latin typeface="Arial" charset="0"/>
                <a:cs typeface="Arial" charset="0"/>
              </a:defRPr>
            </a:lvl4pPr>
            <a:lvl5pPr algn="l" defTabSz="1042988" rtl="0" eaLnBrk="0" fontAlgn="base" hangingPunct="0">
              <a:spcBef>
                <a:spcPct val="0"/>
              </a:spcBef>
              <a:spcAft>
                <a:spcPct val="0"/>
              </a:spcAft>
              <a:defRPr sz="2400" b="1">
                <a:solidFill>
                  <a:schemeClr val="tx1"/>
                </a:solidFill>
                <a:latin typeface="Arial" charset="0"/>
                <a:cs typeface="Arial" charset="0"/>
              </a:defRPr>
            </a:lvl5pPr>
            <a:lvl6pPr marL="457200" algn="l" defTabSz="1042988" rtl="0" fontAlgn="base">
              <a:spcBef>
                <a:spcPct val="0"/>
              </a:spcBef>
              <a:spcAft>
                <a:spcPct val="0"/>
              </a:spcAft>
              <a:defRPr sz="1600">
                <a:solidFill>
                  <a:schemeClr val="tx1"/>
                </a:solidFill>
                <a:latin typeface="Arial" charset="0"/>
                <a:cs typeface="Arial" charset="0"/>
              </a:defRPr>
            </a:lvl6pPr>
            <a:lvl7pPr marL="914400" algn="l" defTabSz="1042988" rtl="0" fontAlgn="base">
              <a:spcBef>
                <a:spcPct val="0"/>
              </a:spcBef>
              <a:spcAft>
                <a:spcPct val="0"/>
              </a:spcAft>
              <a:defRPr sz="1600">
                <a:solidFill>
                  <a:schemeClr val="tx1"/>
                </a:solidFill>
                <a:latin typeface="Arial" charset="0"/>
                <a:cs typeface="Arial" charset="0"/>
              </a:defRPr>
            </a:lvl7pPr>
            <a:lvl8pPr marL="1371600" algn="l" defTabSz="1042988" rtl="0" fontAlgn="base">
              <a:spcBef>
                <a:spcPct val="0"/>
              </a:spcBef>
              <a:spcAft>
                <a:spcPct val="0"/>
              </a:spcAft>
              <a:defRPr sz="1600">
                <a:solidFill>
                  <a:schemeClr val="tx1"/>
                </a:solidFill>
                <a:latin typeface="Arial" charset="0"/>
                <a:cs typeface="Arial" charset="0"/>
              </a:defRPr>
            </a:lvl8pPr>
            <a:lvl9pPr marL="1828800" algn="l" defTabSz="1042988" rtl="0" fontAlgn="base">
              <a:spcBef>
                <a:spcPct val="0"/>
              </a:spcBef>
              <a:spcAft>
                <a:spcPct val="0"/>
              </a:spcAft>
              <a:defRPr sz="1600">
                <a:solidFill>
                  <a:schemeClr val="tx1"/>
                </a:solidFill>
                <a:latin typeface="Arial" charset="0"/>
                <a:cs typeface="Arial" charset="0"/>
              </a:defRPr>
            </a:lvl9pPr>
          </a:lstStyle>
          <a:p>
            <a:pPr defTabSz="914400" eaLnBrk="1" fontAlgn="auto" hangingPunct="1">
              <a:lnSpc>
                <a:spcPct val="90000"/>
              </a:lnSpc>
              <a:spcAft>
                <a:spcPts val="600"/>
              </a:spcAft>
              <a:defRPr/>
            </a:pPr>
            <a:r>
              <a:rPr lang="en-US" sz="4000" dirty="0">
                <a:solidFill>
                  <a:srgbClr val="FFFFFF"/>
                </a:solidFill>
                <a:latin typeface="Cambria" panose="02040503050406030204" pitchFamily="18" charset="0"/>
                <a:ea typeface="Cambria" panose="02040503050406030204" pitchFamily="18" charset="0"/>
              </a:rPr>
              <a:t>EXISTING SOLUTIONS</a:t>
            </a:r>
            <a:endParaRPr lang="en-US" sz="4000" kern="1200" dirty="0">
              <a:solidFill>
                <a:srgbClr val="FFFFFF"/>
              </a:solidFill>
              <a:latin typeface="Cambria" panose="02040503050406030204" pitchFamily="18" charset="0"/>
              <a:ea typeface="Cambria" panose="02040503050406030204" pitchFamily="18" charset="0"/>
            </a:endParaRPr>
          </a:p>
        </p:txBody>
      </p:sp>
      <p:pic>
        <p:nvPicPr>
          <p:cNvPr id="7" name="Picture 6" descr="Logo&#10;&#10;Description automatically generated">
            <a:extLst>
              <a:ext uri="{FF2B5EF4-FFF2-40B4-BE49-F238E27FC236}">
                <a16:creationId xmlns:a16="http://schemas.microsoft.com/office/drawing/2014/main" id="{7BB1B981-C2F1-96E2-CC87-C10AB10E88AA}"/>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9023848" y="461107"/>
            <a:ext cx="2462400" cy="668525"/>
          </a:xfrm>
          <a:prstGeom prst="rect">
            <a:avLst/>
          </a:prstGeom>
          <a:noFill/>
          <a:ln>
            <a:noFill/>
          </a:ln>
        </p:spPr>
      </p:pic>
      <p:sp>
        <p:nvSpPr>
          <p:cNvPr id="2" name="Slide Number Placeholder 1">
            <a:extLst>
              <a:ext uri="{FF2B5EF4-FFF2-40B4-BE49-F238E27FC236}">
                <a16:creationId xmlns:a16="http://schemas.microsoft.com/office/drawing/2014/main" id="{5C08AFEF-CD09-2FED-0DFE-A7B9250DFB6F}"/>
              </a:ext>
            </a:extLst>
          </p:cNvPr>
          <p:cNvSpPr>
            <a:spLocks noGrp="1"/>
          </p:cNvSpPr>
          <p:nvPr>
            <p:ph type="sldNum" sz="quarter" idx="12"/>
          </p:nvPr>
        </p:nvSpPr>
        <p:spPr/>
        <p:txBody>
          <a:bodyPr/>
          <a:lstStyle/>
          <a:p>
            <a:fld id="{87ACCF74-76A4-4B7C-AE89-E33624618226}" type="slidenum">
              <a:rPr lang="en-IN" smtClean="0"/>
              <a:t>4</a:t>
            </a:fld>
            <a:endParaRPr lang="en-IN" dirty="0"/>
          </a:p>
        </p:txBody>
      </p:sp>
      <p:graphicFrame>
        <p:nvGraphicFramePr>
          <p:cNvPr id="5" name="Table 4">
            <a:extLst>
              <a:ext uri="{FF2B5EF4-FFF2-40B4-BE49-F238E27FC236}">
                <a16:creationId xmlns:a16="http://schemas.microsoft.com/office/drawing/2014/main" id="{EFDB3D58-BC6D-B90B-AA8A-964450F3E6A2}"/>
              </a:ext>
            </a:extLst>
          </p:cNvPr>
          <p:cNvGraphicFramePr>
            <a:graphicFrameLocks noGrp="1"/>
          </p:cNvGraphicFramePr>
          <p:nvPr>
            <p:extLst>
              <p:ext uri="{D42A27DB-BD31-4B8C-83A1-F6EECF244321}">
                <p14:modId xmlns:p14="http://schemas.microsoft.com/office/powerpoint/2010/main" val="2500025988"/>
              </p:ext>
            </p:extLst>
          </p:nvPr>
        </p:nvGraphicFramePr>
        <p:xfrm>
          <a:off x="483269" y="2394642"/>
          <a:ext cx="11225458" cy="3302000"/>
        </p:xfrm>
        <a:graphic>
          <a:graphicData uri="http://schemas.openxmlformats.org/drawingml/2006/table">
            <a:tbl>
              <a:tblPr firstRow="1" bandRow="1">
                <a:tableStyleId>{9D7B26C5-4107-4FEC-AEDC-1716B250A1EF}</a:tableStyleId>
              </a:tblPr>
              <a:tblGrid>
                <a:gridCol w="4095496">
                  <a:extLst>
                    <a:ext uri="{9D8B030D-6E8A-4147-A177-3AD203B41FA5}">
                      <a16:colId xmlns:a16="http://schemas.microsoft.com/office/drawing/2014/main" val="2385186939"/>
                    </a:ext>
                  </a:extLst>
                </a:gridCol>
                <a:gridCol w="3161309">
                  <a:extLst>
                    <a:ext uri="{9D8B030D-6E8A-4147-A177-3AD203B41FA5}">
                      <a16:colId xmlns:a16="http://schemas.microsoft.com/office/drawing/2014/main" val="3686962087"/>
                    </a:ext>
                  </a:extLst>
                </a:gridCol>
                <a:gridCol w="3968653">
                  <a:extLst>
                    <a:ext uri="{9D8B030D-6E8A-4147-A177-3AD203B41FA5}">
                      <a16:colId xmlns:a16="http://schemas.microsoft.com/office/drawing/2014/main" val="3334769596"/>
                    </a:ext>
                  </a:extLst>
                </a:gridCol>
              </a:tblGrid>
              <a:tr h="370840">
                <a:tc>
                  <a:txBody>
                    <a:bodyPr/>
                    <a:lstStyle/>
                    <a:p>
                      <a:pPr algn="ctr"/>
                      <a:r>
                        <a:rPr lang="en-US" dirty="0"/>
                        <a:t>Solution</a:t>
                      </a:r>
                      <a:endParaRPr lang="en-IN" dirty="0"/>
                    </a:p>
                  </a:txBody>
                  <a:tcPr anchor="ctr"/>
                </a:tc>
                <a:tc>
                  <a:txBody>
                    <a:bodyPr/>
                    <a:lstStyle/>
                    <a:p>
                      <a:pPr algn="ctr"/>
                      <a:r>
                        <a:rPr lang="en-US" dirty="0"/>
                        <a:t>What it Offers</a:t>
                      </a:r>
                      <a:endParaRPr lang="en-IN" dirty="0"/>
                    </a:p>
                  </a:txBody>
                  <a:tcPr anchor="ctr"/>
                </a:tc>
                <a:tc>
                  <a:txBody>
                    <a:bodyPr/>
                    <a:lstStyle/>
                    <a:p>
                      <a:pPr algn="ctr"/>
                      <a:r>
                        <a:rPr lang="en-US" dirty="0"/>
                        <a:t>Key Limitation</a:t>
                      </a:r>
                      <a:endParaRPr lang="en-IN" dirty="0"/>
                    </a:p>
                  </a:txBody>
                  <a:tcPr anchor="ctr"/>
                </a:tc>
                <a:extLst>
                  <a:ext uri="{0D108BD9-81ED-4DB2-BD59-A6C34878D82A}">
                    <a16:rowId xmlns:a16="http://schemas.microsoft.com/office/drawing/2014/main" val="2519665982"/>
                  </a:ext>
                </a:extLst>
              </a:tr>
              <a:tr h="370840">
                <a:tc>
                  <a:txBody>
                    <a:bodyPr/>
                    <a:lstStyle/>
                    <a:p>
                      <a:pPr algn="ctr"/>
                      <a:r>
                        <a:rPr lang="en-US" dirty="0"/>
                        <a:t>Accelerators (YC, Techstars)</a:t>
                      </a:r>
                      <a:endParaRPr lang="en-IN" dirty="0"/>
                    </a:p>
                  </a:txBody>
                  <a:tcPr anchor="ctr"/>
                </a:tc>
                <a:tc>
                  <a:txBody>
                    <a:bodyPr/>
                    <a:lstStyle/>
                    <a:p>
                      <a:pPr algn="ctr"/>
                      <a:r>
                        <a:rPr lang="en-US" dirty="0"/>
                        <a:t>Mentorship, Demo-Days, High- Quality</a:t>
                      </a:r>
                      <a:endParaRPr lang="en-IN" dirty="0"/>
                    </a:p>
                  </a:txBody>
                  <a:tcPr anchor="ctr"/>
                </a:tc>
                <a:tc>
                  <a:txBody>
                    <a:bodyPr/>
                    <a:lstStyle/>
                    <a:p>
                      <a:pPr algn="ctr"/>
                      <a:r>
                        <a:rPr lang="en-US" dirty="0"/>
                        <a:t>&lt;3% Acceptance, Geographically Limited</a:t>
                      </a:r>
                      <a:endParaRPr lang="en-IN" dirty="0"/>
                    </a:p>
                  </a:txBody>
                  <a:tcPr anchor="ctr"/>
                </a:tc>
                <a:extLst>
                  <a:ext uri="{0D108BD9-81ED-4DB2-BD59-A6C34878D82A}">
                    <a16:rowId xmlns:a16="http://schemas.microsoft.com/office/drawing/2014/main" val="303619074"/>
                  </a:ext>
                </a:extLst>
              </a:tr>
              <a:tr h="370840">
                <a:tc>
                  <a:txBody>
                    <a:bodyPr/>
                    <a:lstStyle/>
                    <a:p>
                      <a:pPr algn="ctr"/>
                      <a:r>
                        <a:rPr lang="en-US" dirty="0"/>
                        <a:t>Human Coaches</a:t>
                      </a:r>
                      <a:endParaRPr lang="en-IN" dirty="0"/>
                    </a:p>
                  </a:txBody>
                  <a:tcPr anchor="ctr"/>
                </a:tc>
                <a:tc>
                  <a:txBody>
                    <a:bodyPr/>
                    <a:lstStyle/>
                    <a:p>
                      <a:pPr algn="ctr"/>
                      <a:r>
                        <a:rPr lang="en-US" dirty="0" err="1"/>
                        <a:t>Personalised</a:t>
                      </a:r>
                      <a:r>
                        <a:rPr lang="en-US" dirty="0"/>
                        <a:t>, Experienced Feedback</a:t>
                      </a:r>
                      <a:endParaRPr lang="en-IN" dirty="0"/>
                    </a:p>
                  </a:txBody>
                  <a:tcPr anchor="ctr"/>
                </a:tc>
                <a:tc>
                  <a:txBody>
                    <a:bodyPr/>
                    <a:lstStyle/>
                    <a:p>
                      <a:pPr algn="ctr"/>
                      <a:r>
                        <a:rPr lang="en-US" dirty="0"/>
                        <a:t>Very Costly Per Session, Subjective, Scarce</a:t>
                      </a:r>
                      <a:endParaRPr lang="en-IN" dirty="0"/>
                    </a:p>
                  </a:txBody>
                  <a:tcPr anchor="ctr"/>
                </a:tc>
                <a:extLst>
                  <a:ext uri="{0D108BD9-81ED-4DB2-BD59-A6C34878D82A}">
                    <a16:rowId xmlns:a16="http://schemas.microsoft.com/office/drawing/2014/main" val="2922879907"/>
                  </a:ext>
                </a:extLst>
              </a:tr>
              <a:tr h="370840">
                <a:tc>
                  <a:txBody>
                    <a:bodyPr/>
                    <a:lstStyle/>
                    <a:p>
                      <a:pPr algn="ctr"/>
                      <a:r>
                        <a:rPr lang="en-US" dirty="0"/>
                        <a:t>LLMs (GPT, Claude)</a:t>
                      </a:r>
                      <a:endParaRPr lang="en-IN" dirty="0"/>
                    </a:p>
                  </a:txBody>
                  <a:tcPr anchor="ctr"/>
                </a:tc>
                <a:tc>
                  <a:txBody>
                    <a:bodyPr/>
                    <a:lstStyle/>
                    <a:p>
                      <a:pPr algn="ctr"/>
                      <a:r>
                        <a:rPr lang="en-US" dirty="0"/>
                        <a:t>Interactive Investor Conversations</a:t>
                      </a:r>
                      <a:endParaRPr lang="en-IN" dirty="0"/>
                    </a:p>
                  </a:txBody>
                  <a:tcPr anchor="ctr"/>
                </a:tc>
                <a:tc>
                  <a:txBody>
                    <a:bodyPr/>
                    <a:lstStyle/>
                    <a:p>
                      <a:pPr algn="ctr"/>
                      <a:r>
                        <a:rPr lang="en-US" dirty="0"/>
                        <a:t>Text Only – No Verbal Delivery</a:t>
                      </a:r>
                      <a:endParaRPr lang="en-IN" dirty="0"/>
                    </a:p>
                  </a:txBody>
                  <a:tcPr anchor="ctr"/>
                </a:tc>
                <a:extLst>
                  <a:ext uri="{0D108BD9-81ED-4DB2-BD59-A6C34878D82A}">
                    <a16:rowId xmlns:a16="http://schemas.microsoft.com/office/drawing/2014/main" val="1954415594"/>
                  </a:ext>
                </a:extLst>
              </a:tr>
              <a:tr h="370840">
                <a:tc>
                  <a:txBody>
                    <a:bodyPr/>
                    <a:lstStyle/>
                    <a:p>
                      <a:pPr algn="ctr"/>
                      <a:r>
                        <a:rPr lang="en-US" dirty="0"/>
                        <a:t>Presentation Tools (Pitch.com, Beatiful.ai)</a:t>
                      </a:r>
                      <a:endParaRPr lang="en-IN" dirty="0"/>
                    </a:p>
                  </a:txBody>
                  <a:tcPr anchor="ctr"/>
                </a:tc>
                <a:tc>
                  <a:txBody>
                    <a:bodyPr/>
                    <a:lstStyle/>
                    <a:p>
                      <a:pPr algn="ctr"/>
                      <a:r>
                        <a:rPr lang="en-US" dirty="0"/>
                        <a:t>Professional Slide Design</a:t>
                      </a:r>
                      <a:endParaRPr lang="en-IN" dirty="0"/>
                    </a:p>
                  </a:txBody>
                  <a:tcPr anchor="ctr"/>
                </a:tc>
                <a:tc>
                  <a:txBody>
                    <a:bodyPr/>
                    <a:lstStyle/>
                    <a:p>
                      <a:pPr algn="ctr"/>
                      <a:r>
                        <a:rPr lang="en-US" dirty="0"/>
                        <a:t>Focus on Visuals and Presentations, Not Delivery</a:t>
                      </a:r>
                      <a:endParaRPr lang="en-IN" dirty="0"/>
                    </a:p>
                  </a:txBody>
                  <a:tcPr anchor="ctr"/>
                </a:tc>
                <a:extLst>
                  <a:ext uri="{0D108BD9-81ED-4DB2-BD59-A6C34878D82A}">
                    <a16:rowId xmlns:a16="http://schemas.microsoft.com/office/drawing/2014/main" val="1882712269"/>
                  </a:ext>
                </a:extLst>
              </a:tr>
              <a:tr h="370840">
                <a:tc>
                  <a:txBody>
                    <a:bodyPr/>
                    <a:lstStyle/>
                    <a:p>
                      <a:pPr algn="ctr"/>
                      <a:r>
                        <a:rPr lang="en-US" dirty="0"/>
                        <a:t>Video Recording Tools</a:t>
                      </a:r>
                      <a:endParaRPr lang="en-IN" dirty="0"/>
                    </a:p>
                  </a:txBody>
                  <a:tcPr anchor="ctr"/>
                </a:tc>
                <a:tc>
                  <a:txBody>
                    <a:bodyPr/>
                    <a:lstStyle/>
                    <a:p>
                      <a:pPr algn="ctr"/>
                      <a:r>
                        <a:rPr lang="en-US" dirty="0"/>
                        <a:t>Self-Review of Delivery</a:t>
                      </a:r>
                      <a:endParaRPr lang="en-IN" dirty="0"/>
                    </a:p>
                  </a:txBody>
                  <a:tcPr anchor="ctr"/>
                </a:tc>
                <a:tc>
                  <a:txBody>
                    <a:bodyPr/>
                    <a:lstStyle/>
                    <a:p>
                      <a:pPr algn="ctr"/>
                      <a:r>
                        <a:rPr lang="en-US" dirty="0"/>
                        <a:t>No Interactive Feedback/Questioning</a:t>
                      </a:r>
                      <a:endParaRPr lang="en-IN" dirty="0"/>
                    </a:p>
                  </a:txBody>
                  <a:tcPr anchor="ctr"/>
                </a:tc>
                <a:extLst>
                  <a:ext uri="{0D108BD9-81ED-4DB2-BD59-A6C34878D82A}">
                    <a16:rowId xmlns:a16="http://schemas.microsoft.com/office/drawing/2014/main" val="4033728600"/>
                  </a:ext>
                </a:extLst>
              </a:tr>
            </a:tbl>
          </a:graphicData>
        </a:graphic>
      </p:graphicFrame>
    </p:spTree>
    <p:extLst>
      <p:ext uri="{BB962C8B-B14F-4D97-AF65-F5344CB8AC3E}">
        <p14:creationId xmlns:p14="http://schemas.microsoft.com/office/powerpoint/2010/main" val="3853381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C236B0-B8BD-483D-E8E7-AD284501B35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17EF75-BF0B-AD28-7ADF-8E65B87E6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BE5C5E1-F792-1861-D1AD-04A9C87B9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4BB3681-1008-C694-B42A-9AD42AD62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D512C6C-F64D-5C5F-DB9A-BE27D4D495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8A9E7D2-DFA9-AB30-3697-0A625C171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3A146805-1616-3F5A-B7EC-F48B0225D95B}"/>
              </a:ext>
            </a:extLst>
          </p:cNvPr>
          <p:cNvSpPr txBox="1">
            <a:spLocks/>
          </p:cNvSpPr>
          <p:nvPr/>
        </p:nvSpPr>
        <p:spPr bwMode="gray">
          <a:xfrm>
            <a:off x="460502" y="335223"/>
            <a:ext cx="7857597" cy="9546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lgn="l" defTabSz="1042988" rtl="0" eaLnBrk="0" fontAlgn="base" hangingPunct="0">
              <a:spcBef>
                <a:spcPct val="0"/>
              </a:spcBef>
              <a:spcAft>
                <a:spcPct val="0"/>
              </a:spcAft>
              <a:defRPr sz="2400" b="1">
                <a:solidFill>
                  <a:schemeClr val="tx1"/>
                </a:solidFill>
                <a:latin typeface="+mj-lt"/>
                <a:ea typeface="+mj-ea"/>
                <a:cs typeface="+mj-cs"/>
              </a:defRPr>
            </a:lvl1pPr>
            <a:lvl2pPr algn="l" defTabSz="1042988" rtl="0" eaLnBrk="0" fontAlgn="base" hangingPunct="0">
              <a:spcBef>
                <a:spcPct val="0"/>
              </a:spcBef>
              <a:spcAft>
                <a:spcPct val="0"/>
              </a:spcAft>
              <a:defRPr sz="2400" b="1">
                <a:solidFill>
                  <a:schemeClr val="tx1"/>
                </a:solidFill>
                <a:latin typeface="Arial" charset="0"/>
                <a:cs typeface="Arial" charset="0"/>
              </a:defRPr>
            </a:lvl2pPr>
            <a:lvl3pPr algn="l" defTabSz="1042988" rtl="0" eaLnBrk="0" fontAlgn="base" hangingPunct="0">
              <a:spcBef>
                <a:spcPct val="0"/>
              </a:spcBef>
              <a:spcAft>
                <a:spcPct val="0"/>
              </a:spcAft>
              <a:defRPr sz="2400" b="1">
                <a:solidFill>
                  <a:schemeClr val="tx1"/>
                </a:solidFill>
                <a:latin typeface="Arial" charset="0"/>
                <a:cs typeface="Arial" charset="0"/>
              </a:defRPr>
            </a:lvl3pPr>
            <a:lvl4pPr algn="l" defTabSz="1042988" rtl="0" eaLnBrk="0" fontAlgn="base" hangingPunct="0">
              <a:spcBef>
                <a:spcPct val="0"/>
              </a:spcBef>
              <a:spcAft>
                <a:spcPct val="0"/>
              </a:spcAft>
              <a:defRPr sz="2400" b="1">
                <a:solidFill>
                  <a:schemeClr val="tx1"/>
                </a:solidFill>
                <a:latin typeface="Arial" charset="0"/>
                <a:cs typeface="Arial" charset="0"/>
              </a:defRPr>
            </a:lvl4pPr>
            <a:lvl5pPr algn="l" defTabSz="1042988" rtl="0" eaLnBrk="0" fontAlgn="base" hangingPunct="0">
              <a:spcBef>
                <a:spcPct val="0"/>
              </a:spcBef>
              <a:spcAft>
                <a:spcPct val="0"/>
              </a:spcAft>
              <a:defRPr sz="2400" b="1">
                <a:solidFill>
                  <a:schemeClr val="tx1"/>
                </a:solidFill>
                <a:latin typeface="Arial" charset="0"/>
                <a:cs typeface="Arial" charset="0"/>
              </a:defRPr>
            </a:lvl5pPr>
            <a:lvl6pPr marL="457200" algn="l" defTabSz="1042988" rtl="0" fontAlgn="base">
              <a:spcBef>
                <a:spcPct val="0"/>
              </a:spcBef>
              <a:spcAft>
                <a:spcPct val="0"/>
              </a:spcAft>
              <a:defRPr sz="1600">
                <a:solidFill>
                  <a:schemeClr val="tx1"/>
                </a:solidFill>
                <a:latin typeface="Arial" charset="0"/>
                <a:cs typeface="Arial" charset="0"/>
              </a:defRPr>
            </a:lvl6pPr>
            <a:lvl7pPr marL="914400" algn="l" defTabSz="1042988" rtl="0" fontAlgn="base">
              <a:spcBef>
                <a:spcPct val="0"/>
              </a:spcBef>
              <a:spcAft>
                <a:spcPct val="0"/>
              </a:spcAft>
              <a:defRPr sz="1600">
                <a:solidFill>
                  <a:schemeClr val="tx1"/>
                </a:solidFill>
                <a:latin typeface="Arial" charset="0"/>
                <a:cs typeface="Arial" charset="0"/>
              </a:defRPr>
            </a:lvl7pPr>
            <a:lvl8pPr marL="1371600" algn="l" defTabSz="1042988" rtl="0" fontAlgn="base">
              <a:spcBef>
                <a:spcPct val="0"/>
              </a:spcBef>
              <a:spcAft>
                <a:spcPct val="0"/>
              </a:spcAft>
              <a:defRPr sz="1600">
                <a:solidFill>
                  <a:schemeClr val="tx1"/>
                </a:solidFill>
                <a:latin typeface="Arial" charset="0"/>
                <a:cs typeface="Arial" charset="0"/>
              </a:defRPr>
            </a:lvl8pPr>
            <a:lvl9pPr marL="1828800" algn="l" defTabSz="1042988" rtl="0" fontAlgn="base">
              <a:spcBef>
                <a:spcPct val="0"/>
              </a:spcBef>
              <a:spcAft>
                <a:spcPct val="0"/>
              </a:spcAft>
              <a:defRPr sz="1600">
                <a:solidFill>
                  <a:schemeClr val="tx1"/>
                </a:solidFill>
                <a:latin typeface="Arial" charset="0"/>
                <a:cs typeface="Arial" charset="0"/>
              </a:defRPr>
            </a:lvl9pPr>
          </a:lstStyle>
          <a:p>
            <a:pPr defTabSz="914400" eaLnBrk="1" fontAlgn="auto" hangingPunct="1">
              <a:lnSpc>
                <a:spcPct val="90000"/>
              </a:lnSpc>
              <a:spcAft>
                <a:spcPts val="600"/>
              </a:spcAft>
              <a:defRPr/>
            </a:pPr>
            <a:r>
              <a:rPr lang="en-US" sz="4000" dirty="0">
                <a:solidFill>
                  <a:srgbClr val="FFFFFF"/>
                </a:solidFill>
                <a:latin typeface="Cambria" panose="02040503050406030204" pitchFamily="18" charset="0"/>
                <a:ea typeface="Cambria" panose="02040503050406030204" pitchFamily="18" charset="0"/>
              </a:rPr>
              <a:t>OBJECTIVES</a:t>
            </a:r>
            <a:endParaRPr lang="en-US" sz="4000" kern="1200" dirty="0">
              <a:solidFill>
                <a:srgbClr val="FFFFFF"/>
              </a:solidFill>
              <a:latin typeface="Cambria" panose="02040503050406030204" pitchFamily="18" charset="0"/>
              <a:ea typeface="Cambria" panose="02040503050406030204" pitchFamily="18" charset="0"/>
            </a:endParaRPr>
          </a:p>
        </p:txBody>
      </p:sp>
      <p:pic>
        <p:nvPicPr>
          <p:cNvPr id="7" name="Picture 6" descr="Logo&#10;&#10;Description automatically generated">
            <a:extLst>
              <a:ext uri="{FF2B5EF4-FFF2-40B4-BE49-F238E27FC236}">
                <a16:creationId xmlns:a16="http://schemas.microsoft.com/office/drawing/2014/main" id="{737EB632-10DC-C9CA-2475-F8BD60CE20F5}"/>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9023847" y="461107"/>
            <a:ext cx="2462400" cy="668525"/>
          </a:xfrm>
          <a:prstGeom prst="rect">
            <a:avLst/>
          </a:prstGeom>
          <a:noFill/>
          <a:ln>
            <a:noFill/>
          </a:ln>
        </p:spPr>
      </p:pic>
      <p:sp>
        <p:nvSpPr>
          <p:cNvPr id="2" name="Slide Number Placeholder 1">
            <a:extLst>
              <a:ext uri="{FF2B5EF4-FFF2-40B4-BE49-F238E27FC236}">
                <a16:creationId xmlns:a16="http://schemas.microsoft.com/office/drawing/2014/main" id="{9E555EC9-CBB2-0932-9718-696000474D4D}"/>
              </a:ext>
            </a:extLst>
          </p:cNvPr>
          <p:cNvSpPr>
            <a:spLocks noGrp="1"/>
          </p:cNvSpPr>
          <p:nvPr>
            <p:ph type="sldNum" sz="quarter" idx="12"/>
          </p:nvPr>
        </p:nvSpPr>
        <p:spPr/>
        <p:txBody>
          <a:bodyPr/>
          <a:lstStyle/>
          <a:p>
            <a:fld id="{87ACCF74-76A4-4B7C-AE89-E33624618226}" type="slidenum">
              <a:rPr lang="en-IN" smtClean="0"/>
              <a:t>5</a:t>
            </a:fld>
            <a:endParaRPr lang="en-IN" dirty="0"/>
          </a:p>
        </p:txBody>
      </p:sp>
      <p:sp>
        <p:nvSpPr>
          <p:cNvPr id="4" name="Rectangle 1">
            <a:extLst>
              <a:ext uri="{FF2B5EF4-FFF2-40B4-BE49-F238E27FC236}">
                <a16:creationId xmlns:a16="http://schemas.microsoft.com/office/drawing/2014/main" id="{ED30D26F-809A-A72C-13D0-D3E20F77040D}"/>
              </a:ext>
            </a:extLst>
          </p:cNvPr>
          <p:cNvSpPr>
            <a:spLocks noGrp="1" noChangeArrowheads="1"/>
          </p:cNvSpPr>
          <p:nvPr>
            <p:ph idx="1"/>
          </p:nvPr>
        </p:nvSpPr>
        <p:spPr bwMode="auto">
          <a:xfrm>
            <a:off x="387529" y="1923486"/>
            <a:ext cx="11416937"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lnSpc>
                <a:spcPct val="100000"/>
              </a:lnSpc>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Build an AI-based pitch practice platform that simulates realistic investor interactions</a:t>
            </a:r>
          </a:p>
          <a:p>
            <a:pPr marL="457200" indent="-457200" eaLnBrk="0" fontAlgn="base" hangingPunct="0">
              <a:lnSpc>
                <a:spcPct val="100000"/>
              </a:lnSpc>
              <a:spcBef>
                <a:spcPct val="0"/>
              </a:spcBef>
              <a:spcAft>
                <a:spcPct val="0"/>
              </a:spcAft>
              <a:buFont typeface="+mj-lt"/>
              <a:buAutoNum type="arabicPeriod"/>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endParaRPr>
          </a:p>
          <a:p>
            <a:pPr marL="457200" indent="-457200" eaLnBrk="0" fontAlgn="base" hangingPunct="0">
              <a:lnSpc>
                <a:spcPct val="100000"/>
              </a:lnSpc>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Design and implement 10 distinct pitch scenarios, each with specialized system prompts and assessment criteria</a:t>
            </a:r>
          </a:p>
          <a:p>
            <a:pPr marL="457200" indent="-457200" eaLnBrk="0" fontAlgn="base" hangingPunct="0">
              <a:lnSpc>
                <a:spcPct val="100000"/>
              </a:lnSpc>
              <a:spcBef>
                <a:spcPct val="0"/>
              </a:spcBef>
              <a:spcAft>
                <a:spcPct val="0"/>
              </a:spcAft>
              <a:buFont typeface="+mj-lt"/>
              <a:buAutoNum type="arabicPeriod"/>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endParaRPr>
          </a:p>
          <a:p>
            <a:pPr marL="457200" indent="-457200" eaLnBrk="0" fontAlgn="base" hangingPunct="0">
              <a:lnSpc>
                <a:spcPct val="100000"/>
              </a:lnSpc>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Generate structured, quantifiable assessments from each session with per-category scores and actionable feedback</a:t>
            </a:r>
          </a:p>
          <a:p>
            <a:pPr marL="457200" indent="-457200" eaLnBrk="0" fontAlgn="base" hangingPunct="0">
              <a:lnSpc>
                <a:spcPct val="100000"/>
              </a:lnSpc>
              <a:spcBef>
                <a:spcPct val="0"/>
              </a:spcBef>
              <a:spcAft>
                <a:spcPct val="0"/>
              </a:spcAft>
              <a:buFont typeface="+mj-lt"/>
              <a:buAutoNum type="arabicPeriod"/>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endParaRPr>
          </a:p>
          <a:p>
            <a:pPr marL="457200" indent="-457200" eaLnBrk="0" fontAlgn="base" hangingPunct="0">
              <a:lnSpc>
                <a:spcPct val="100000"/>
              </a:lnSpc>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Enable progress tracking through an analytics dashboard with trend visualization</a:t>
            </a:r>
          </a:p>
          <a:p>
            <a:pPr marL="457200" indent="-457200" eaLnBrk="0" fontAlgn="base" hangingPunct="0">
              <a:lnSpc>
                <a:spcPct val="100000"/>
              </a:lnSpc>
              <a:spcBef>
                <a:spcPct val="0"/>
              </a:spcBef>
              <a:spcAft>
                <a:spcPct val="0"/>
              </a:spcAft>
              <a:buFont typeface="+mj-lt"/>
              <a:buAutoNum type="arabicPeriod"/>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endParaRPr>
          </a:p>
          <a:p>
            <a:pPr marL="457200" indent="-457200" eaLnBrk="0" fontAlgn="base" hangingPunct="0">
              <a:lnSpc>
                <a:spcPct val="100000"/>
              </a:lnSpc>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Implement context carry-forward so that each session builds on the founder's prior performance</a:t>
            </a:r>
          </a:p>
          <a:p>
            <a:pPr marL="457200" indent="-457200" eaLnBrk="0" fontAlgn="base" hangingPunct="0">
              <a:lnSpc>
                <a:spcPct val="100000"/>
              </a:lnSpc>
              <a:spcBef>
                <a:spcPct val="0"/>
              </a:spcBef>
              <a:spcAft>
                <a:spcPct val="0"/>
              </a:spcAft>
              <a:buFont typeface="+mj-lt"/>
              <a:buAutoNum type="arabicPeriod"/>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endParaRPr>
          </a:p>
          <a:p>
            <a:pPr marL="457200" indent="-457200" eaLnBrk="0" fontAlgn="base" hangingPunct="0">
              <a:lnSpc>
                <a:spcPct val="100000"/>
              </a:lnSpc>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Arial" panose="020B0604020202020204" pitchFamily="34" charset="0"/>
              </a:rPr>
              <a:t>Build a secure, fractional credit-based monetization system with server-side regulation</a:t>
            </a:r>
          </a:p>
        </p:txBody>
      </p:sp>
    </p:spTree>
    <p:extLst>
      <p:ext uri="{BB962C8B-B14F-4D97-AF65-F5344CB8AC3E}">
        <p14:creationId xmlns:p14="http://schemas.microsoft.com/office/powerpoint/2010/main" val="1368663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4" name="Rectangle 5133">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6" name="Rectangle 5135">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8" name="Rectangle 5137">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40" name="Rectangle 5139">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76610" y="5498115"/>
            <a:ext cx="6962072" cy="1159200"/>
          </a:xfrm>
        </p:spPr>
        <p:txBody>
          <a:bodyPr vert="horz" lIns="91440" tIns="45720" rIns="91440" bIns="45720" rtlCol="0" anchor="ctr">
            <a:normAutofit/>
          </a:bodyPr>
          <a:lstStyle/>
          <a:p>
            <a:r>
              <a:rPr lang="en-US" sz="4000" b="1" kern="1200" dirty="0">
                <a:solidFill>
                  <a:srgbClr val="FFFFFF"/>
                </a:solidFill>
                <a:latin typeface="Cambria" panose="02040503050406030204" pitchFamily="18" charset="0"/>
                <a:ea typeface="Cambria" panose="02040503050406030204" pitchFamily="18" charset="0"/>
              </a:rPr>
              <a:t>LITERATURE REVIEW</a:t>
            </a:r>
          </a:p>
        </p:txBody>
      </p:sp>
      <p:graphicFrame>
        <p:nvGraphicFramePr>
          <p:cNvPr id="8" name="Table 7"/>
          <p:cNvGraphicFramePr>
            <a:graphicFrameLocks noGrp="1"/>
          </p:cNvGraphicFramePr>
          <p:nvPr>
            <p:extLst>
              <p:ext uri="{D42A27DB-BD31-4B8C-83A1-F6EECF244321}">
                <p14:modId xmlns:p14="http://schemas.microsoft.com/office/powerpoint/2010/main" val="2606642053"/>
              </p:ext>
            </p:extLst>
          </p:nvPr>
        </p:nvGraphicFramePr>
        <p:xfrm>
          <a:off x="93671" y="874495"/>
          <a:ext cx="11628632" cy="4309473"/>
        </p:xfrm>
        <a:graphic>
          <a:graphicData uri="http://schemas.openxmlformats.org/drawingml/2006/table">
            <a:tbl>
              <a:tblPr firstRow="1" bandRow="1">
                <a:tableStyleId>{9D7B26C5-4107-4FEC-AEDC-1716B250A1EF}</a:tableStyleId>
              </a:tblPr>
              <a:tblGrid>
                <a:gridCol w="2171887">
                  <a:extLst>
                    <a:ext uri="{9D8B030D-6E8A-4147-A177-3AD203B41FA5}">
                      <a16:colId xmlns:a16="http://schemas.microsoft.com/office/drawing/2014/main" val="20000"/>
                    </a:ext>
                  </a:extLst>
                </a:gridCol>
                <a:gridCol w="2207371">
                  <a:extLst>
                    <a:ext uri="{9D8B030D-6E8A-4147-A177-3AD203B41FA5}">
                      <a16:colId xmlns:a16="http://schemas.microsoft.com/office/drawing/2014/main" val="20001"/>
                    </a:ext>
                  </a:extLst>
                </a:gridCol>
                <a:gridCol w="1592660">
                  <a:extLst>
                    <a:ext uri="{9D8B030D-6E8A-4147-A177-3AD203B41FA5}">
                      <a16:colId xmlns:a16="http://schemas.microsoft.com/office/drawing/2014/main" val="20002"/>
                    </a:ext>
                  </a:extLst>
                </a:gridCol>
                <a:gridCol w="3914330">
                  <a:extLst>
                    <a:ext uri="{9D8B030D-6E8A-4147-A177-3AD203B41FA5}">
                      <a16:colId xmlns:a16="http://schemas.microsoft.com/office/drawing/2014/main" val="20003"/>
                    </a:ext>
                  </a:extLst>
                </a:gridCol>
                <a:gridCol w="1742384">
                  <a:extLst>
                    <a:ext uri="{9D8B030D-6E8A-4147-A177-3AD203B41FA5}">
                      <a16:colId xmlns:a16="http://schemas.microsoft.com/office/drawing/2014/main" val="20004"/>
                    </a:ext>
                  </a:extLst>
                </a:gridCol>
              </a:tblGrid>
              <a:tr h="307548">
                <a:tc>
                  <a:txBody>
                    <a:bodyPr/>
                    <a:lstStyle/>
                    <a:p>
                      <a:pPr marL="0" marR="0" algn="ctr">
                        <a:lnSpc>
                          <a:spcPct val="115000"/>
                        </a:lnSpc>
                        <a:spcBef>
                          <a:spcPts val="0"/>
                        </a:spcBef>
                        <a:spcAft>
                          <a:spcPts val="0"/>
                        </a:spcAft>
                      </a:pPr>
                      <a:r>
                        <a:rPr lang="en-US" sz="1800" b="0" cap="none" spc="0" dirty="0">
                          <a:solidFill>
                            <a:schemeClr val="tx1"/>
                          </a:solidFill>
                        </a:rPr>
                        <a:t>Title of the paper</a:t>
                      </a:r>
                      <a:endParaRPr lang="en-US" sz="1800" b="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18613" marB="93067" anchor="ctr"/>
                </a:tc>
                <a:tc>
                  <a:txBody>
                    <a:bodyPr/>
                    <a:lstStyle/>
                    <a:p>
                      <a:pPr marL="0" marR="0" algn="ctr">
                        <a:lnSpc>
                          <a:spcPct val="115000"/>
                        </a:lnSpc>
                        <a:spcBef>
                          <a:spcPts val="0"/>
                        </a:spcBef>
                        <a:spcAft>
                          <a:spcPts val="0"/>
                        </a:spcAft>
                      </a:pPr>
                      <a:r>
                        <a:rPr lang="en-US" sz="1800" b="0" cap="none" spc="0" dirty="0">
                          <a:solidFill>
                            <a:schemeClr val="tx1"/>
                          </a:solidFill>
                        </a:rPr>
                        <a:t>Journal</a:t>
                      </a:r>
                      <a:r>
                        <a:rPr lang="en-US" sz="1800" b="0" cap="none" spc="0" baseline="0" dirty="0">
                          <a:solidFill>
                            <a:schemeClr val="tx1"/>
                          </a:solidFill>
                        </a:rPr>
                        <a:t> &amp; Year</a:t>
                      </a:r>
                      <a:endParaRPr lang="en-US" sz="1800" b="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18613" marB="93067" anchor="ctr"/>
                </a:tc>
                <a:tc>
                  <a:txBody>
                    <a:bodyPr/>
                    <a:lstStyle/>
                    <a:p>
                      <a:pPr marL="0" marR="0" algn="ctr">
                        <a:lnSpc>
                          <a:spcPct val="115000"/>
                        </a:lnSpc>
                        <a:spcBef>
                          <a:spcPts val="0"/>
                        </a:spcBef>
                        <a:spcAft>
                          <a:spcPts val="0"/>
                        </a:spcAft>
                      </a:pPr>
                      <a:r>
                        <a:rPr lang="en-US" sz="1800" b="0" cap="none" spc="0" dirty="0">
                          <a:solidFill>
                            <a:schemeClr val="tx1"/>
                          </a:solidFill>
                        </a:rPr>
                        <a:t>Authors</a:t>
                      </a:r>
                      <a:endParaRPr lang="en-US" sz="1800" b="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18613" marB="93067" anchor="ctr"/>
                </a:tc>
                <a:tc>
                  <a:txBody>
                    <a:bodyPr/>
                    <a:lstStyle/>
                    <a:p>
                      <a:pPr marL="0" marR="0" algn="ctr">
                        <a:lnSpc>
                          <a:spcPct val="115000"/>
                        </a:lnSpc>
                        <a:spcBef>
                          <a:spcPts val="0"/>
                        </a:spcBef>
                        <a:spcAft>
                          <a:spcPts val="0"/>
                        </a:spcAft>
                      </a:pPr>
                      <a:r>
                        <a:rPr lang="en-US" sz="1800" b="0" cap="none" spc="0" dirty="0">
                          <a:solidFill>
                            <a:schemeClr val="tx1"/>
                          </a:solidFill>
                        </a:rPr>
                        <a:t>Description</a:t>
                      </a:r>
                      <a:endParaRPr lang="en-US" sz="1800" b="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18613" marB="93067" anchor="ctr"/>
                </a:tc>
                <a:tc>
                  <a:txBody>
                    <a:bodyPr/>
                    <a:lstStyle/>
                    <a:p>
                      <a:pPr marL="0" marR="0" algn="ctr">
                        <a:lnSpc>
                          <a:spcPct val="115000"/>
                        </a:lnSpc>
                        <a:spcBef>
                          <a:spcPts val="0"/>
                        </a:spcBef>
                        <a:spcAft>
                          <a:spcPts val="0"/>
                        </a:spcAft>
                      </a:pPr>
                      <a:r>
                        <a:rPr lang="en-US" sz="1800" b="0" cap="none" spc="0" dirty="0">
                          <a:solidFill>
                            <a:schemeClr val="tx1"/>
                          </a:solidFill>
                        </a:rPr>
                        <a:t>Remarks</a:t>
                      </a:r>
                      <a:endParaRPr lang="en-US" sz="1800" b="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18613" marB="93067" anchor="ctr"/>
                </a:tc>
                <a:extLst>
                  <a:ext uri="{0D108BD9-81ED-4DB2-BD59-A6C34878D82A}">
                    <a16:rowId xmlns:a16="http://schemas.microsoft.com/office/drawing/2014/main" val="10000"/>
                  </a:ext>
                </a:extLst>
              </a:tr>
              <a:tr h="1237256">
                <a:tc>
                  <a:txBody>
                    <a:bodyPr/>
                    <a:lstStyle/>
                    <a:p>
                      <a:pPr marL="0" marR="0" algn="ctr">
                        <a:lnSpc>
                          <a:spcPct val="115000"/>
                        </a:lnSpc>
                        <a:spcBef>
                          <a:spcPts val="0"/>
                        </a:spcBef>
                        <a:spcAft>
                          <a:spcPts val="0"/>
                        </a:spcAft>
                      </a:pPr>
                      <a:r>
                        <a:rPr lang="en-US" sz="1400" dirty="0"/>
                        <a:t>Systematic Review of AI in Higher Education</a:t>
                      </a:r>
                      <a:endParaRPr lang="en-US" sz="140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27920" marB="93067" anchor="ctr"/>
                </a:tc>
                <a:tc>
                  <a:txBody>
                    <a:bodyPr/>
                    <a:lstStyle/>
                    <a:p>
                      <a:pPr marL="0" marR="0" algn="ctr">
                        <a:lnSpc>
                          <a:spcPct val="115000"/>
                        </a:lnSpc>
                        <a:spcBef>
                          <a:spcPts val="0"/>
                        </a:spcBef>
                        <a:spcAft>
                          <a:spcPts val="0"/>
                        </a:spcAft>
                      </a:pPr>
                      <a:r>
                        <a:rPr lang="en-IN" sz="1400" dirty="0"/>
                        <a:t> </a:t>
                      </a:r>
                      <a:r>
                        <a:rPr lang="en-US" sz="1400" dirty="0"/>
                        <a:t>International Journal of Educational Technology, 2019</a:t>
                      </a:r>
                      <a:endParaRPr lang="en-US" sz="140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27920" marB="93067" anchor="ctr"/>
                </a:tc>
                <a:tc>
                  <a:txBody>
                    <a:bodyPr/>
                    <a:lstStyle/>
                    <a:p>
                      <a:pPr marL="0" marR="0">
                        <a:lnSpc>
                          <a:spcPct val="115000"/>
                        </a:lnSpc>
                        <a:spcBef>
                          <a:spcPts val="0"/>
                        </a:spcBef>
                        <a:spcAft>
                          <a:spcPts val="0"/>
                        </a:spcAft>
                      </a:pPr>
                      <a:r>
                        <a:rPr lang="en-US" sz="1400" cap="none" spc="0" dirty="0">
                          <a:solidFill>
                            <a:schemeClr val="tx1"/>
                          </a:solidFill>
                          <a:latin typeface="Cambria" panose="02040503050406030204" pitchFamily="18" charset="0"/>
                          <a:ea typeface="Cambria" panose="02040503050406030204" pitchFamily="18" charset="0"/>
                          <a:cs typeface="Times New Roman"/>
                        </a:rPr>
                        <a:t>Zawacki-Richter et al.</a:t>
                      </a:r>
                    </a:p>
                  </a:txBody>
                  <a:tcPr marL="0" marR="17050" marT="27920" marB="93067" anchor="ctr"/>
                </a:tc>
                <a:tc>
                  <a:txBody>
                    <a:bodyPr/>
                    <a:lstStyle/>
                    <a:p>
                      <a:pPr marL="0" marR="0" algn="ctr">
                        <a:lnSpc>
                          <a:spcPct val="115000"/>
                        </a:lnSpc>
                        <a:spcBef>
                          <a:spcPts val="0"/>
                        </a:spcBef>
                        <a:spcAft>
                          <a:spcPts val="0"/>
                        </a:spcAft>
                      </a:pPr>
                      <a:r>
                        <a:rPr lang="en-US" sz="1400" dirty="0"/>
                        <a:t>Reviewed 146 studies showing AI-assisted learning improves outcomes through personalization</a:t>
                      </a:r>
                      <a:endParaRPr lang="en-US" sz="140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27920" marB="93067" anchor="ctr"/>
                </a:tc>
                <a:tc>
                  <a:txBody>
                    <a:bodyPr/>
                    <a:lstStyle/>
                    <a:p>
                      <a:pPr marL="0" marR="0" algn="ctr">
                        <a:lnSpc>
                          <a:spcPct val="115000"/>
                        </a:lnSpc>
                        <a:spcBef>
                          <a:spcPts val="0"/>
                        </a:spcBef>
                        <a:spcAft>
                          <a:spcPts val="0"/>
                        </a:spcAft>
                      </a:pPr>
                      <a:r>
                        <a:rPr lang="en-US" sz="1400" dirty="0"/>
                        <a:t>Focused on text-based learning, not applied to verbal or interactive skills</a:t>
                      </a:r>
                      <a:endParaRPr lang="en-US" sz="140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27920" marB="93067" anchor="ctr"/>
                </a:tc>
                <a:extLst>
                  <a:ext uri="{0D108BD9-81ED-4DB2-BD59-A6C34878D82A}">
                    <a16:rowId xmlns:a16="http://schemas.microsoft.com/office/drawing/2014/main" val="10001"/>
                  </a:ext>
                </a:extLst>
              </a:tr>
              <a:tr h="1237256">
                <a:tc>
                  <a:txBody>
                    <a:bodyPr/>
                    <a:lstStyle/>
                    <a:p>
                      <a:pPr marL="0" marR="0" algn="ctr">
                        <a:lnSpc>
                          <a:spcPct val="115000"/>
                        </a:lnSpc>
                        <a:spcBef>
                          <a:spcPts val="0"/>
                        </a:spcBef>
                        <a:spcAft>
                          <a:spcPts val="0"/>
                        </a:spcAft>
                      </a:pPr>
                      <a:r>
                        <a:rPr lang="en-US" sz="1400" dirty="0"/>
                        <a:t>The Impact of Entrepreneurs' Oral Pitch Presentation Skills on Business Angels' Initial Screening Investment Decisions</a:t>
                      </a:r>
                    </a:p>
                  </a:txBody>
                  <a:tcPr marL="0" marR="17050" marT="27920" marB="93067"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IN" sz="1400" dirty="0"/>
                        <a:t>Venture Capital, 2008</a:t>
                      </a:r>
                      <a:endParaRPr kumimoji="0" lang="en-US" sz="1400" kern="120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27920" marB="93067" anchor="ctr"/>
                </a:tc>
                <a:tc>
                  <a:txBody>
                    <a:bodyPr/>
                    <a:lstStyle/>
                    <a:p>
                      <a:pPr marL="0" marR="0" algn="ctr">
                        <a:lnSpc>
                          <a:spcPct val="115000"/>
                        </a:lnSpc>
                        <a:spcBef>
                          <a:spcPts val="0"/>
                        </a:spcBef>
                        <a:spcAft>
                          <a:spcPts val="0"/>
                        </a:spcAft>
                      </a:pPr>
                      <a:r>
                        <a:rPr lang="en-IN" sz="1400" dirty="0"/>
                        <a:t> Clark, C.</a:t>
                      </a:r>
                      <a:endParaRPr lang="en-US" sz="140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27920" marB="93067" anchor="ctr"/>
                </a:tc>
                <a:tc>
                  <a:txBody>
                    <a:bodyPr/>
                    <a:lstStyle/>
                    <a:p>
                      <a:pPr marL="0" marR="0" lvl="0" indent="0" algn="ctr">
                        <a:lnSpc>
                          <a:spcPct val="115000"/>
                        </a:lnSpc>
                        <a:spcBef>
                          <a:spcPts val="0"/>
                        </a:spcBef>
                        <a:spcAft>
                          <a:spcPts val="0"/>
                        </a:spcAft>
                        <a:buFont typeface="Symbol"/>
                        <a:buNone/>
                      </a:pPr>
                      <a:r>
                        <a:rPr lang="en-US" sz="1400" dirty="0"/>
                        <a:t>Found that higher pitch presentation style scores directly increased the likelihood of business angel investment interest. Identified clarity, structure, persuasiveness, and entrepreneur personality as key factors in funding decisions.</a:t>
                      </a:r>
                      <a:endParaRPr lang="en-US" sz="1400" cap="none" spc="0" dirty="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a:endParaRPr>
                    </a:p>
                  </a:txBody>
                  <a:tcPr marL="0" marR="17050" marT="27920" marB="93067" anchor="ctr"/>
                </a:tc>
                <a:tc>
                  <a:txBody>
                    <a:bodyPr/>
                    <a:lstStyle/>
                    <a:p>
                      <a:pPr marL="0" marR="0" algn="ctr">
                        <a:lnSpc>
                          <a:spcPct val="115000"/>
                        </a:lnSpc>
                        <a:spcBef>
                          <a:spcPts val="0"/>
                        </a:spcBef>
                        <a:spcAft>
                          <a:spcPts val="0"/>
                        </a:spcAft>
                      </a:pPr>
                      <a:r>
                        <a:rPr lang="en-US" sz="1400" dirty="0"/>
                        <a:t>Validates that verbal pitch delivery drives investment decisions</a:t>
                      </a:r>
                      <a:endParaRPr lang="en-US" sz="1400" cap="none" spc="0" dirty="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Times New Roman"/>
                      </a:endParaRPr>
                    </a:p>
                  </a:txBody>
                  <a:tcPr marL="0" marR="17050" marT="27920" marB="93067" anchor="ctr"/>
                </a:tc>
                <a:extLst>
                  <a:ext uri="{0D108BD9-81ED-4DB2-BD59-A6C34878D82A}">
                    <a16:rowId xmlns:a16="http://schemas.microsoft.com/office/drawing/2014/main" val="10002"/>
                  </a:ext>
                </a:extLst>
              </a:tr>
              <a:tr h="1237256">
                <a:tc>
                  <a:txBody>
                    <a:bodyPr/>
                    <a:lstStyle/>
                    <a:p>
                      <a:pPr marL="0" marR="0" algn="ctr">
                        <a:lnSpc>
                          <a:spcPct val="115000"/>
                        </a:lnSpc>
                        <a:spcBef>
                          <a:spcPts val="0"/>
                        </a:spcBef>
                        <a:spcAft>
                          <a:spcPts val="0"/>
                        </a:spcAft>
                      </a:pPr>
                      <a:r>
                        <a:rPr lang="en-US" sz="1400" dirty="0"/>
                        <a:t>The Effectiveness of AI-Supported Personalized Feedback on Students' Learning Outcomes and Motivation: A Meta-Analysis</a:t>
                      </a:r>
                      <a:endParaRPr lang="en-US" sz="140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27920" marB="93067" anchor="ctr"/>
                </a:tc>
                <a:tc>
                  <a:txBody>
                    <a:bodyPr/>
                    <a:lstStyle/>
                    <a:p>
                      <a:pPr marL="0" marR="0" algn="ctr">
                        <a:lnSpc>
                          <a:spcPct val="115000"/>
                        </a:lnSpc>
                        <a:spcBef>
                          <a:spcPts val="0"/>
                        </a:spcBef>
                        <a:spcAft>
                          <a:spcPts val="0"/>
                        </a:spcAft>
                      </a:pPr>
                      <a:r>
                        <a:rPr lang="en-US" sz="1400" dirty="0"/>
                        <a:t>Journal of Educational Computing Research, 2026</a:t>
                      </a:r>
                      <a:endParaRPr lang="en-US" sz="140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27920" marB="93067" anchor="ctr"/>
                </a:tc>
                <a:tc>
                  <a:txBody>
                    <a:bodyPr/>
                    <a:lstStyle/>
                    <a:p>
                      <a:pPr marL="0" marR="0" algn="ctr">
                        <a:lnSpc>
                          <a:spcPct val="115000"/>
                        </a:lnSpc>
                        <a:spcBef>
                          <a:spcPts val="0"/>
                        </a:spcBef>
                        <a:spcAft>
                          <a:spcPts val="0"/>
                        </a:spcAft>
                      </a:pPr>
                      <a:r>
                        <a:rPr lang="de-DE" sz="1400" dirty="0"/>
                        <a:t>Wang, W., Wang, Y., Chen, J., Wang, X., Zhang, H., Guo, C., Peng, Y.</a:t>
                      </a:r>
                      <a:endParaRPr lang="en-US" sz="140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27920" marB="93067" anchor="ctr"/>
                </a:tc>
                <a:tc>
                  <a:txBody>
                    <a:bodyPr/>
                    <a:lstStyle/>
                    <a:p>
                      <a:pPr marL="0" marR="0" algn="ctr">
                        <a:lnSpc>
                          <a:spcPct val="115000"/>
                        </a:lnSpc>
                        <a:spcBef>
                          <a:spcPts val="0"/>
                        </a:spcBef>
                        <a:spcAft>
                          <a:spcPts val="0"/>
                        </a:spcAft>
                      </a:pPr>
                      <a:r>
                        <a:rPr lang="en-US" sz="1400" dirty="0"/>
                        <a:t>Meta-analysis finding AI-supported personalized feedback has a moderate effect on learning outcomes (g = 0.58) and strong effect on motivation (g = 0.82).</a:t>
                      </a:r>
                      <a:endParaRPr lang="en-US" sz="140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27920" marB="93067" anchor="ctr"/>
                </a:tc>
                <a:tc>
                  <a:txBody>
                    <a:bodyPr/>
                    <a:lstStyle/>
                    <a:p>
                      <a:pPr marL="0" marR="0" algn="ctr">
                        <a:lnSpc>
                          <a:spcPct val="115000"/>
                        </a:lnSpc>
                        <a:spcBef>
                          <a:spcPts val="0"/>
                        </a:spcBef>
                        <a:spcAft>
                          <a:spcPts val="0"/>
                        </a:spcAft>
                      </a:pPr>
                      <a:r>
                        <a:rPr lang="en-US" sz="1400" dirty="0"/>
                        <a:t>Confirms AI can deliver effective personalized feedback at scale</a:t>
                      </a:r>
                      <a:endParaRPr lang="en-US" sz="1400" cap="none" spc="0" dirty="0">
                        <a:solidFill>
                          <a:schemeClr val="tx1"/>
                        </a:solidFill>
                        <a:latin typeface="Cambria" panose="02040503050406030204" pitchFamily="18" charset="0"/>
                        <a:ea typeface="Cambria" panose="02040503050406030204" pitchFamily="18" charset="0"/>
                        <a:cs typeface="Times New Roman"/>
                      </a:endParaRPr>
                    </a:p>
                  </a:txBody>
                  <a:tcPr marL="0" marR="17050" marT="27920" marB="93067" anchor="ctr"/>
                </a:tc>
                <a:extLst>
                  <a:ext uri="{0D108BD9-81ED-4DB2-BD59-A6C34878D82A}">
                    <a16:rowId xmlns:a16="http://schemas.microsoft.com/office/drawing/2014/main" val="10003"/>
                  </a:ext>
                </a:extLst>
              </a:tr>
            </a:tbl>
          </a:graphicData>
        </a:graphic>
      </p:graphicFrame>
      <p:pic>
        <p:nvPicPr>
          <p:cNvPr id="6" name="Picture 5" descr="Logo&#10;&#10;Description automatically generated">
            <a:extLst>
              <a:ext uri="{FF2B5EF4-FFF2-40B4-BE49-F238E27FC236}">
                <a16:creationId xmlns:a16="http://schemas.microsoft.com/office/drawing/2014/main" id="{40E93716-42E8-E3CE-3E07-4E56177B63F0}"/>
              </a:ext>
            </a:extLst>
          </p:cNvPr>
          <p:cNvPicPr>
            <a:picLocks noChangeAspect="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9434963" y="103170"/>
            <a:ext cx="2461038" cy="668155"/>
          </a:xfrm>
          <a:prstGeom prst="rect">
            <a:avLst/>
          </a:prstGeom>
          <a:noFill/>
          <a:ln>
            <a:noFill/>
          </a:ln>
        </p:spPr>
      </p:pic>
      <p:sp>
        <p:nvSpPr>
          <p:cNvPr id="3" name="Slide Number Placeholder 2">
            <a:extLst>
              <a:ext uri="{FF2B5EF4-FFF2-40B4-BE49-F238E27FC236}">
                <a16:creationId xmlns:a16="http://schemas.microsoft.com/office/drawing/2014/main" id="{0F9E1E1C-6D7E-A737-74C0-69855C7A3497}"/>
              </a:ext>
            </a:extLst>
          </p:cNvPr>
          <p:cNvSpPr>
            <a:spLocks noGrp="1"/>
          </p:cNvSpPr>
          <p:nvPr>
            <p:ph type="sldNum" sz="quarter" idx="12"/>
          </p:nvPr>
        </p:nvSpPr>
        <p:spPr/>
        <p:txBody>
          <a:bodyPr/>
          <a:lstStyle/>
          <a:p>
            <a:fld id="{87ACCF74-76A4-4B7C-AE89-E33624618226}" type="slidenum">
              <a:rPr lang="en-IN" smtClean="0"/>
              <a:t>6</a:t>
            </a:fld>
            <a:endParaRPr lang="en-IN" dirty="0"/>
          </a:p>
        </p:txBody>
      </p:sp>
    </p:spTree>
    <p:extLst>
      <p:ext uri="{BB962C8B-B14F-4D97-AF65-F5344CB8AC3E}">
        <p14:creationId xmlns:p14="http://schemas.microsoft.com/office/powerpoint/2010/main" val="165750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BC524F-E6F0-CC4A-7F7D-86309F70E35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63C3DDA-CC1F-42D0-719C-6F63B6715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46B27BA-7AC7-E62A-D6BE-439F332AD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3238D15-D117-36F8-96D4-ABCDC626A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595EFDF-94B2-21BE-4A3A-AC3D8DDCB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17C7EA99-2C0F-6167-7A78-90A6DA074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B1966281-61A2-238A-D1D0-5FEA9F799791}"/>
              </a:ext>
            </a:extLst>
          </p:cNvPr>
          <p:cNvSpPr txBox="1">
            <a:spLocks/>
          </p:cNvSpPr>
          <p:nvPr/>
        </p:nvSpPr>
        <p:spPr bwMode="gray">
          <a:xfrm>
            <a:off x="460502" y="318061"/>
            <a:ext cx="7857597" cy="9546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lgn="l" defTabSz="1042988" rtl="0" eaLnBrk="0" fontAlgn="base" hangingPunct="0">
              <a:spcBef>
                <a:spcPct val="0"/>
              </a:spcBef>
              <a:spcAft>
                <a:spcPct val="0"/>
              </a:spcAft>
              <a:defRPr sz="2400" b="1">
                <a:solidFill>
                  <a:schemeClr val="tx1"/>
                </a:solidFill>
                <a:latin typeface="+mj-lt"/>
                <a:ea typeface="+mj-ea"/>
                <a:cs typeface="+mj-cs"/>
              </a:defRPr>
            </a:lvl1pPr>
            <a:lvl2pPr algn="l" defTabSz="1042988" rtl="0" eaLnBrk="0" fontAlgn="base" hangingPunct="0">
              <a:spcBef>
                <a:spcPct val="0"/>
              </a:spcBef>
              <a:spcAft>
                <a:spcPct val="0"/>
              </a:spcAft>
              <a:defRPr sz="2400" b="1">
                <a:solidFill>
                  <a:schemeClr val="tx1"/>
                </a:solidFill>
                <a:latin typeface="Arial" charset="0"/>
                <a:cs typeface="Arial" charset="0"/>
              </a:defRPr>
            </a:lvl2pPr>
            <a:lvl3pPr algn="l" defTabSz="1042988" rtl="0" eaLnBrk="0" fontAlgn="base" hangingPunct="0">
              <a:spcBef>
                <a:spcPct val="0"/>
              </a:spcBef>
              <a:spcAft>
                <a:spcPct val="0"/>
              </a:spcAft>
              <a:defRPr sz="2400" b="1">
                <a:solidFill>
                  <a:schemeClr val="tx1"/>
                </a:solidFill>
                <a:latin typeface="Arial" charset="0"/>
                <a:cs typeface="Arial" charset="0"/>
              </a:defRPr>
            </a:lvl3pPr>
            <a:lvl4pPr algn="l" defTabSz="1042988" rtl="0" eaLnBrk="0" fontAlgn="base" hangingPunct="0">
              <a:spcBef>
                <a:spcPct val="0"/>
              </a:spcBef>
              <a:spcAft>
                <a:spcPct val="0"/>
              </a:spcAft>
              <a:defRPr sz="2400" b="1">
                <a:solidFill>
                  <a:schemeClr val="tx1"/>
                </a:solidFill>
                <a:latin typeface="Arial" charset="0"/>
                <a:cs typeface="Arial" charset="0"/>
              </a:defRPr>
            </a:lvl4pPr>
            <a:lvl5pPr algn="l" defTabSz="1042988" rtl="0" eaLnBrk="0" fontAlgn="base" hangingPunct="0">
              <a:spcBef>
                <a:spcPct val="0"/>
              </a:spcBef>
              <a:spcAft>
                <a:spcPct val="0"/>
              </a:spcAft>
              <a:defRPr sz="2400" b="1">
                <a:solidFill>
                  <a:schemeClr val="tx1"/>
                </a:solidFill>
                <a:latin typeface="Arial" charset="0"/>
                <a:cs typeface="Arial" charset="0"/>
              </a:defRPr>
            </a:lvl5pPr>
            <a:lvl6pPr marL="457200" algn="l" defTabSz="1042988" rtl="0" fontAlgn="base">
              <a:spcBef>
                <a:spcPct val="0"/>
              </a:spcBef>
              <a:spcAft>
                <a:spcPct val="0"/>
              </a:spcAft>
              <a:defRPr sz="1600">
                <a:solidFill>
                  <a:schemeClr val="tx1"/>
                </a:solidFill>
                <a:latin typeface="Arial" charset="0"/>
                <a:cs typeface="Arial" charset="0"/>
              </a:defRPr>
            </a:lvl6pPr>
            <a:lvl7pPr marL="914400" algn="l" defTabSz="1042988" rtl="0" fontAlgn="base">
              <a:spcBef>
                <a:spcPct val="0"/>
              </a:spcBef>
              <a:spcAft>
                <a:spcPct val="0"/>
              </a:spcAft>
              <a:defRPr sz="1600">
                <a:solidFill>
                  <a:schemeClr val="tx1"/>
                </a:solidFill>
                <a:latin typeface="Arial" charset="0"/>
                <a:cs typeface="Arial" charset="0"/>
              </a:defRPr>
            </a:lvl7pPr>
            <a:lvl8pPr marL="1371600" algn="l" defTabSz="1042988" rtl="0" fontAlgn="base">
              <a:spcBef>
                <a:spcPct val="0"/>
              </a:spcBef>
              <a:spcAft>
                <a:spcPct val="0"/>
              </a:spcAft>
              <a:defRPr sz="1600">
                <a:solidFill>
                  <a:schemeClr val="tx1"/>
                </a:solidFill>
                <a:latin typeface="Arial" charset="0"/>
                <a:cs typeface="Arial" charset="0"/>
              </a:defRPr>
            </a:lvl8pPr>
            <a:lvl9pPr marL="1828800" algn="l" defTabSz="1042988" rtl="0" fontAlgn="base">
              <a:spcBef>
                <a:spcPct val="0"/>
              </a:spcBef>
              <a:spcAft>
                <a:spcPct val="0"/>
              </a:spcAft>
              <a:defRPr sz="1600">
                <a:solidFill>
                  <a:schemeClr val="tx1"/>
                </a:solidFill>
                <a:latin typeface="Arial" charset="0"/>
                <a:cs typeface="Arial" charset="0"/>
              </a:defRPr>
            </a:lvl9pPr>
          </a:lstStyle>
          <a:p>
            <a:pPr defTabSz="914400" eaLnBrk="1" fontAlgn="auto" hangingPunct="1">
              <a:lnSpc>
                <a:spcPct val="90000"/>
              </a:lnSpc>
              <a:spcAft>
                <a:spcPts val="600"/>
              </a:spcAft>
              <a:defRPr/>
            </a:pPr>
            <a:r>
              <a:rPr lang="en-US" sz="4000" dirty="0">
                <a:solidFill>
                  <a:srgbClr val="FFFFFF"/>
                </a:solidFill>
                <a:latin typeface="Cambria" panose="02040503050406030204" pitchFamily="18" charset="0"/>
                <a:ea typeface="Cambria" panose="02040503050406030204" pitchFamily="18" charset="0"/>
              </a:rPr>
              <a:t>SYSTEM ARCHITECTURE</a:t>
            </a:r>
            <a:endParaRPr lang="en-US" sz="4000" kern="1200" dirty="0">
              <a:solidFill>
                <a:srgbClr val="FFFFFF"/>
              </a:solidFill>
              <a:latin typeface="Cambria" panose="02040503050406030204" pitchFamily="18" charset="0"/>
              <a:ea typeface="Cambria" panose="02040503050406030204" pitchFamily="18" charset="0"/>
            </a:endParaRPr>
          </a:p>
        </p:txBody>
      </p:sp>
      <p:pic>
        <p:nvPicPr>
          <p:cNvPr id="7" name="Picture 6" descr="Logo&#10;&#10;Description automatically generated">
            <a:extLst>
              <a:ext uri="{FF2B5EF4-FFF2-40B4-BE49-F238E27FC236}">
                <a16:creationId xmlns:a16="http://schemas.microsoft.com/office/drawing/2014/main" id="{E835D959-4FEB-1D61-66C0-98BA62450CFB}"/>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9023847" y="461107"/>
            <a:ext cx="2462400" cy="668525"/>
          </a:xfrm>
          <a:prstGeom prst="rect">
            <a:avLst/>
          </a:prstGeom>
          <a:noFill/>
          <a:ln>
            <a:noFill/>
          </a:ln>
        </p:spPr>
      </p:pic>
      <p:sp>
        <p:nvSpPr>
          <p:cNvPr id="2" name="Slide Number Placeholder 1">
            <a:extLst>
              <a:ext uri="{FF2B5EF4-FFF2-40B4-BE49-F238E27FC236}">
                <a16:creationId xmlns:a16="http://schemas.microsoft.com/office/drawing/2014/main" id="{E26017EA-2631-B954-2607-A1538FC96323}"/>
              </a:ext>
            </a:extLst>
          </p:cNvPr>
          <p:cNvSpPr>
            <a:spLocks noGrp="1"/>
          </p:cNvSpPr>
          <p:nvPr>
            <p:ph type="sldNum" sz="quarter" idx="12"/>
          </p:nvPr>
        </p:nvSpPr>
        <p:spPr/>
        <p:txBody>
          <a:bodyPr/>
          <a:lstStyle/>
          <a:p>
            <a:fld id="{87ACCF74-76A4-4B7C-AE89-E33624618226}" type="slidenum">
              <a:rPr lang="en-IN" smtClean="0"/>
              <a:t>7</a:t>
            </a:fld>
            <a:endParaRPr lang="en-IN" dirty="0"/>
          </a:p>
        </p:txBody>
      </p:sp>
      <p:pic>
        <p:nvPicPr>
          <p:cNvPr id="8" name="Picture 7">
            <a:extLst>
              <a:ext uri="{FF2B5EF4-FFF2-40B4-BE49-F238E27FC236}">
                <a16:creationId xmlns:a16="http://schemas.microsoft.com/office/drawing/2014/main" id="{5FB90015-40A1-77E0-AC3B-8961DEBFD8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 y="2060047"/>
            <a:ext cx="12192000" cy="3712503"/>
          </a:xfrm>
          <a:prstGeom prst="rect">
            <a:avLst/>
          </a:prstGeom>
        </p:spPr>
      </p:pic>
    </p:spTree>
    <p:extLst>
      <p:ext uri="{BB962C8B-B14F-4D97-AF65-F5344CB8AC3E}">
        <p14:creationId xmlns:p14="http://schemas.microsoft.com/office/powerpoint/2010/main" val="592181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8" name="Rectangle 717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7180" name="Rectangle 717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2" name="Rectangle 718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4" name="Rectangle 718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6" name="Rectangle 718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8" name="Freeform: Shape 718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90" name="Rectangle 718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70" name="Title 1"/>
          <p:cNvSpPr>
            <a:spLocks noGrp="1"/>
          </p:cNvSpPr>
          <p:nvPr>
            <p:ph type="title"/>
          </p:nvPr>
        </p:nvSpPr>
        <p:spPr>
          <a:xfrm>
            <a:off x="418225" y="489329"/>
            <a:ext cx="3201366" cy="3387497"/>
          </a:xfrm>
        </p:spPr>
        <p:txBody>
          <a:bodyPr anchor="b">
            <a:normAutofit/>
          </a:bodyPr>
          <a:lstStyle/>
          <a:p>
            <a:pPr algn="ctr"/>
            <a:r>
              <a:rPr lang="en-US" sz="4000" b="1" dirty="0">
                <a:solidFill>
                  <a:srgbClr val="FFFFFF"/>
                </a:solidFill>
                <a:latin typeface="Cambria" panose="02040503050406030204" pitchFamily="18" charset="0"/>
              </a:rPr>
              <a:t>USER FLOW</a:t>
            </a:r>
          </a:p>
        </p:txBody>
      </p:sp>
      <p:sp>
        <p:nvSpPr>
          <p:cNvPr id="4" name="Slide Number Placeholder 3">
            <a:extLst>
              <a:ext uri="{FF2B5EF4-FFF2-40B4-BE49-F238E27FC236}">
                <a16:creationId xmlns:a16="http://schemas.microsoft.com/office/drawing/2014/main" id="{BFDBE1CA-83A6-412D-72B0-F2FB6C6C83A8}"/>
              </a:ext>
            </a:extLst>
          </p:cNvPr>
          <p:cNvSpPr>
            <a:spLocks noGrp="1"/>
          </p:cNvSpPr>
          <p:nvPr>
            <p:ph type="sldNum" sz="quarter" idx="12"/>
          </p:nvPr>
        </p:nvSpPr>
        <p:spPr/>
        <p:txBody>
          <a:bodyPr/>
          <a:lstStyle/>
          <a:p>
            <a:fld id="{87ACCF74-76A4-4B7C-AE89-E33624618226}" type="slidenum">
              <a:rPr lang="en-IN" smtClean="0"/>
              <a:t>8</a:t>
            </a:fld>
            <a:endParaRPr lang="en-IN" dirty="0"/>
          </a:p>
        </p:txBody>
      </p:sp>
      <p:pic>
        <p:nvPicPr>
          <p:cNvPr id="14" name="Picture 13">
            <a:extLst>
              <a:ext uri="{FF2B5EF4-FFF2-40B4-BE49-F238E27FC236}">
                <a16:creationId xmlns:a16="http://schemas.microsoft.com/office/drawing/2014/main" id="{46F3D1AE-D850-C7C5-92C6-18FC6F2F979E}"/>
              </a:ext>
            </a:extLst>
          </p:cNvPr>
          <p:cNvPicPr>
            <a:picLocks noChangeAspect="1"/>
          </p:cNvPicPr>
          <p:nvPr/>
        </p:nvPicPr>
        <p:blipFill>
          <a:blip r:embed="rId3"/>
          <a:stretch>
            <a:fillRect/>
          </a:stretch>
        </p:blipFill>
        <p:spPr>
          <a:xfrm>
            <a:off x="4548444" y="629546"/>
            <a:ext cx="6856176" cy="5578628"/>
          </a:xfrm>
          <a:prstGeom prst="rect">
            <a:avLst/>
          </a:prstGeom>
        </p:spPr>
      </p:pic>
      <p:pic>
        <p:nvPicPr>
          <p:cNvPr id="2" name="Picture 1" descr="Logo&#10;&#10;Description automatically generated">
            <a:extLst>
              <a:ext uri="{FF2B5EF4-FFF2-40B4-BE49-F238E27FC236}">
                <a16:creationId xmlns:a16="http://schemas.microsoft.com/office/drawing/2014/main" id="{92D68237-E2A1-7731-C5F3-606CDC817499}"/>
              </a:ext>
            </a:extLst>
          </p:cNvPr>
          <p:cNvPicPr>
            <a:picLocks noChangeAspect="1"/>
          </p:cNvPicPr>
          <p:nvPr/>
        </p:nvPicPr>
        <p:blipFill>
          <a:blip r:embed="rId4" cstate="print">
            <a:biLevel thresh="25000"/>
            <a:extLst>
              <a:ext uri="{28A0092B-C50C-407E-A947-70E740481C1C}">
                <a14:useLocalDpi xmlns:a14="http://schemas.microsoft.com/office/drawing/2010/main" val="0"/>
              </a:ext>
            </a:extLst>
          </a:blip>
          <a:srcRect/>
          <a:stretch>
            <a:fillRect/>
          </a:stretch>
        </p:blipFill>
        <p:spPr bwMode="auto">
          <a:xfrm>
            <a:off x="9335748" y="252777"/>
            <a:ext cx="2461038" cy="668155"/>
          </a:xfrm>
          <a:prstGeom prst="rect">
            <a:avLst/>
          </a:prstGeom>
          <a:noFill/>
          <a:ln>
            <a:noFill/>
          </a:ln>
        </p:spPr>
      </p:pic>
    </p:spTree>
    <p:extLst>
      <p:ext uri="{BB962C8B-B14F-4D97-AF65-F5344CB8AC3E}">
        <p14:creationId xmlns:p14="http://schemas.microsoft.com/office/powerpoint/2010/main" val="2936530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DEB13E-B58A-4DF5-BA11-A56E69FCD5DF}"/>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797F2FB-0996-2FCB-6145-D79F5A2AB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1551424-69E2-9874-44A6-0BAABAB91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3858BC3D-9609-3AA7-DC01-5EF79469D0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C7592A0-68F1-3E6E-ECB1-3E441247E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8B4D324B-4CB0-1A98-7311-B27BEA3C8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D67A5800-EAD5-D880-FAD1-C08A3E4077A7}"/>
              </a:ext>
            </a:extLst>
          </p:cNvPr>
          <p:cNvSpPr txBox="1">
            <a:spLocks/>
          </p:cNvSpPr>
          <p:nvPr/>
        </p:nvSpPr>
        <p:spPr bwMode="gray">
          <a:xfrm>
            <a:off x="460503" y="318061"/>
            <a:ext cx="7857597" cy="9546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lgn="l" defTabSz="1042988" rtl="0" eaLnBrk="0" fontAlgn="base" hangingPunct="0">
              <a:spcBef>
                <a:spcPct val="0"/>
              </a:spcBef>
              <a:spcAft>
                <a:spcPct val="0"/>
              </a:spcAft>
              <a:defRPr sz="2400" b="1">
                <a:solidFill>
                  <a:schemeClr val="tx1"/>
                </a:solidFill>
                <a:latin typeface="+mj-lt"/>
                <a:ea typeface="+mj-ea"/>
                <a:cs typeface="+mj-cs"/>
              </a:defRPr>
            </a:lvl1pPr>
            <a:lvl2pPr algn="l" defTabSz="1042988" rtl="0" eaLnBrk="0" fontAlgn="base" hangingPunct="0">
              <a:spcBef>
                <a:spcPct val="0"/>
              </a:spcBef>
              <a:spcAft>
                <a:spcPct val="0"/>
              </a:spcAft>
              <a:defRPr sz="2400" b="1">
                <a:solidFill>
                  <a:schemeClr val="tx1"/>
                </a:solidFill>
                <a:latin typeface="Arial" charset="0"/>
                <a:cs typeface="Arial" charset="0"/>
              </a:defRPr>
            </a:lvl2pPr>
            <a:lvl3pPr algn="l" defTabSz="1042988" rtl="0" eaLnBrk="0" fontAlgn="base" hangingPunct="0">
              <a:spcBef>
                <a:spcPct val="0"/>
              </a:spcBef>
              <a:spcAft>
                <a:spcPct val="0"/>
              </a:spcAft>
              <a:defRPr sz="2400" b="1">
                <a:solidFill>
                  <a:schemeClr val="tx1"/>
                </a:solidFill>
                <a:latin typeface="Arial" charset="0"/>
                <a:cs typeface="Arial" charset="0"/>
              </a:defRPr>
            </a:lvl3pPr>
            <a:lvl4pPr algn="l" defTabSz="1042988" rtl="0" eaLnBrk="0" fontAlgn="base" hangingPunct="0">
              <a:spcBef>
                <a:spcPct val="0"/>
              </a:spcBef>
              <a:spcAft>
                <a:spcPct val="0"/>
              </a:spcAft>
              <a:defRPr sz="2400" b="1">
                <a:solidFill>
                  <a:schemeClr val="tx1"/>
                </a:solidFill>
                <a:latin typeface="Arial" charset="0"/>
                <a:cs typeface="Arial" charset="0"/>
              </a:defRPr>
            </a:lvl4pPr>
            <a:lvl5pPr algn="l" defTabSz="1042988" rtl="0" eaLnBrk="0" fontAlgn="base" hangingPunct="0">
              <a:spcBef>
                <a:spcPct val="0"/>
              </a:spcBef>
              <a:spcAft>
                <a:spcPct val="0"/>
              </a:spcAft>
              <a:defRPr sz="2400" b="1">
                <a:solidFill>
                  <a:schemeClr val="tx1"/>
                </a:solidFill>
                <a:latin typeface="Arial" charset="0"/>
                <a:cs typeface="Arial" charset="0"/>
              </a:defRPr>
            </a:lvl5pPr>
            <a:lvl6pPr marL="457200" algn="l" defTabSz="1042988" rtl="0" fontAlgn="base">
              <a:spcBef>
                <a:spcPct val="0"/>
              </a:spcBef>
              <a:spcAft>
                <a:spcPct val="0"/>
              </a:spcAft>
              <a:defRPr sz="1600">
                <a:solidFill>
                  <a:schemeClr val="tx1"/>
                </a:solidFill>
                <a:latin typeface="Arial" charset="0"/>
                <a:cs typeface="Arial" charset="0"/>
              </a:defRPr>
            </a:lvl6pPr>
            <a:lvl7pPr marL="914400" algn="l" defTabSz="1042988" rtl="0" fontAlgn="base">
              <a:spcBef>
                <a:spcPct val="0"/>
              </a:spcBef>
              <a:spcAft>
                <a:spcPct val="0"/>
              </a:spcAft>
              <a:defRPr sz="1600">
                <a:solidFill>
                  <a:schemeClr val="tx1"/>
                </a:solidFill>
                <a:latin typeface="Arial" charset="0"/>
                <a:cs typeface="Arial" charset="0"/>
              </a:defRPr>
            </a:lvl7pPr>
            <a:lvl8pPr marL="1371600" algn="l" defTabSz="1042988" rtl="0" fontAlgn="base">
              <a:spcBef>
                <a:spcPct val="0"/>
              </a:spcBef>
              <a:spcAft>
                <a:spcPct val="0"/>
              </a:spcAft>
              <a:defRPr sz="1600">
                <a:solidFill>
                  <a:schemeClr val="tx1"/>
                </a:solidFill>
                <a:latin typeface="Arial" charset="0"/>
                <a:cs typeface="Arial" charset="0"/>
              </a:defRPr>
            </a:lvl8pPr>
            <a:lvl9pPr marL="1828800" algn="l" defTabSz="1042988" rtl="0" fontAlgn="base">
              <a:spcBef>
                <a:spcPct val="0"/>
              </a:spcBef>
              <a:spcAft>
                <a:spcPct val="0"/>
              </a:spcAft>
              <a:defRPr sz="1600">
                <a:solidFill>
                  <a:schemeClr val="tx1"/>
                </a:solidFill>
                <a:latin typeface="Arial" charset="0"/>
                <a:cs typeface="Arial" charset="0"/>
              </a:defRPr>
            </a:lvl9pPr>
          </a:lstStyle>
          <a:p>
            <a:pPr defTabSz="914400" eaLnBrk="1" fontAlgn="auto" hangingPunct="1">
              <a:lnSpc>
                <a:spcPct val="90000"/>
              </a:lnSpc>
              <a:spcAft>
                <a:spcPts val="600"/>
              </a:spcAft>
              <a:defRPr/>
            </a:pPr>
            <a:r>
              <a:rPr lang="en-US" sz="4000" kern="1200" dirty="0">
                <a:solidFill>
                  <a:srgbClr val="FFFFFF"/>
                </a:solidFill>
                <a:latin typeface="Cambria" panose="02040503050406030204" pitchFamily="18" charset="0"/>
                <a:ea typeface="Cambria" panose="02040503050406030204" pitchFamily="18" charset="0"/>
              </a:rPr>
              <a:t>PITCH SESSION LIFECYCLE</a:t>
            </a:r>
          </a:p>
        </p:txBody>
      </p:sp>
      <p:pic>
        <p:nvPicPr>
          <p:cNvPr id="7" name="Picture 6" descr="Logo&#10;&#10;Description automatically generated">
            <a:extLst>
              <a:ext uri="{FF2B5EF4-FFF2-40B4-BE49-F238E27FC236}">
                <a16:creationId xmlns:a16="http://schemas.microsoft.com/office/drawing/2014/main" id="{347AF233-E840-1A96-57A6-42DD3E9432FD}"/>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9023848" y="461107"/>
            <a:ext cx="2462400" cy="668525"/>
          </a:xfrm>
          <a:prstGeom prst="rect">
            <a:avLst/>
          </a:prstGeom>
          <a:noFill/>
          <a:ln>
            <a:noFill/>
          </a:ln>
        </p:spPr>
      </p:pic>
      <p:sp>
        <p:nvSpPr>
          <p:cNvPr id="2" name="Slide Number Placeholder 1">
            <a:extLst>
              <a:ext uri="{FF2B5EF4-FFF2-40B4-BE49-F238E27FC236}">
                <a16:creationId xmlns:a16="http://schemas.microsoft.com/office/drawing/2014/main" id="{C19F14AD-700F-EB8A-EB08-B9FD6F38CDCF}"/>
              </a:ext>
            </a:extLst>
          </p:cNvPr>
          <p:cNvSpPr>
            <a:spLocks noGrp="1"/>
          </p:cNvSpPr>
          <p:nvPr>
            <p:ph type="sldNum" sz="quarter" idx="12"/>
          </p:nvPr>
        </p:nvSpPr>
        <p:spPr/>
        <p:txBody>
          <a:bodyPr/>
          <a:lstStyle/>
          <a:p>
            <a:fld id="{87ACCF74-76A4-4B7C-AE89-E33624618226}" type="slidenum">
              <a:rPr lang="en-IN" smtClean="0"/>
              <a:t>9</a:t>
            </a:fld>
            <a:endParaRPr lang="en-IN" dirty="0"/>
          </a:p>
        </p:txBody>
      </p:sp>
      <p:sp>
        <p:nvSpPr>
          <p:cNvPr id="10" name="Content Placeholder 2">
            <a:extLst>
              <a:ext uri="{FF2B5EF4-FFF2-40B4-BE49-F238E27FC236}">
                <a16:creationId xmlns:a16="http://schemas.microsoft.com/office/drawing/2014/main" id="{3CF249D9-0733-6A27-6EE5-02BF7BC9DAD1}"/>
              </a:ext>
            </a:extLst>
          </p:cNvPr>
          <p:cNvSpPr>
            <a:spLocks noGrp="1"/>
          </p:cNvSpPr>
          <p:nvPr>
            <p:ph idx="1"/>
          </p:nvPr>
        </p:nvSpPr>
        <p:spPr>
          <a:xfrm>
            <a:off x="5571858" y="1649755"/>
            <a:ext cx="6510335" cy="5195550"/>
          </a:xfrm>
        </p:spPr>
        <p:txBody>
          <a:bodyPr anchor="ctr">
            <a:normAutofit lnSpcReduction="10000"/>
          </a:bodyPr>
          <a:lstStyle/>
          <a:p>
            <a:pPr marL="417542" indent="-342900">
              <a:defRPr/>
            </a:pPr>
            <a:r>
              <a:rPr lang="en-US" sz="2000" dirty="0">
                <a:latin typeface="Cambria" panose="02040503050406030204" pitchFamily="18" charset="0"/>
              </a:rPr>
              <a:t>Phase 1, Configuration: User selects pitch type, idea, and optional prior context</a:t>
            </a:r>
          </a:p>
          <a:p>
            <a:pPr marL="417542" indent="-342900">
              <a:defRPr/>
            </a:pPr>
            <a:endParaRPr lang="en-US" sz="2000" dirty="0">
              <a:latin typeface="Cambria" panose="02040503050406030204" pitchFamily="18" charset="0"/>
            </a:endParaRPr>
          </a:p>
          <a:p>
            <a:pPr marL="417542" indent="-342900">
              <a:defRPr/>
            </a:pPr>
            <a:r>
              <a:rPr lang="en-US" sz="2000" dirty="0">
                <a:latin typeface="Cambria" panose="02040503050406030204" pitchFamily="18" charset="0"/>
              </a:rPr>
              <a:t>Phase 2, Call Setup: Edge Function authenticates user, checks credits, checks assistant type, calculates max duration, injects context, proxies to Vapi API. WebRTC audio session established.</a:t>
            </a:r>
          </a:p>
          <a:p>
            <a:pPr marL="417542" indent="-342900">
              <a:defRPr/>
            </a:pPr>
            <a:endParaRPr lang="en-US" sz="2000" dirty="0">
              <a:latin typeface="Cambria" panose="02040503050406030204" pitchFamily="18" charset="0"/>
            </a:endParaRPr>
          </a:p>
          <a:p>
            <a:pPr marL="417542" indent="-342900">
              <a:defRPr/>
            </a:pPr>
            <a:r>
              <a:rPr lang="en-US" sz="2000" dirty="0">
                <a:latin typeface="Cambria" panose="02040503050406030204" pitchFamily="18" charset="0"/>
              </a:rPr>
              <a:t>Phase 3, Active Call: AI investor conducts realistic conversation. Live transcript displayed. Countdown timer with warnings at 2 min and 1 min.</a:t>
            </a:r>
          </a:p>
          <a:p>
            <a:pPr marL="417542" indent="-342900">
              <a:defRPr/>
            </a:pPr>
            <a:endParaRPr lang="en-US" sz="2000" dirty="0">
              <a:latin typeface="Cambria" panose="02040503050406030204" pitchFamily="18" charset="0"/>
            </a:endParaRPr>
          </a:p>
          <a:p>
            <a:pPr marL="417542" indent="-342900">
              <a:defRPr/>
            </a:pPr>
            <a:r>
              <a:rPr lang="en-US" sz="2000" dirty="0">
                <a:latin typeface="Cambria" panose="02040503050406030204" pitchFamily="18" charset="0"/>
              </a:rPr>
              <a:t>Phase 4, Post-Call: Webhook extracts structured JSON assessment, stores audio recording, saves session to database, deducts fractional credits. Results page displayed.</a:t>
            </a:r>
          </a:p>
        </p:txBody>
      </p:sp>
      <p:pic>
        <p:nvPicPr>
          <p:cNvPr id="5" name="Picture 4">
            <a:extLst>
              <a:ext uri="{FF2B5EF4-FFF2-40B4-BE49-F238E27FC236}">
                <a16:creationId xmlns:a16="http://schemas.microsoft.com/office/drawing/2014/main" id="{03A3683C-648D-A325-C36F-80AB876158EA}"/>
              </a:ext>
            </a:extLst>
          </p:cNvPr>
          <p:cNvPicPr>
            <a:picLocks noChangeAspect="1"/>
          </p:cNvPicPr>
          <p:nvPr/>
        </p:nvPicPr>
        <p:blipFill>
          <a:blip r:embed="rId4"/>
          <a:stretch>
            <a:fillRect/>
          </a:stretch>
        </p:blipFill>
        <p:spPr>
          <a:xfrm>
            <a:off x="546931" y="1649755"/>
            <a:ext cx="4915939" cy="5195550"/>
          </a:xfrm>
          <a:prstGeom prst="rect">
            <a:avLst/>
          </a:prstGeom>
        </p:spPr>
      </p:pic>
    </p:spTree>
    <p:extLst>
      <p:ext uri="{BB962C8B-B14F-4D97-AF65-F5344CB8AC3E}">
        <p14:creationId xmlns:p14="http://schemas.microsoft.com/office/powerpoint/2010/main" val="730146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323722-9B1E-BA48-E8D3-164388918977}"/>
            </a:ext>
          </a:extLst>
        </p:cNvPr>
        <p:cNvGrpSpPr/>
        <p:nvPr/>
      </p:nvGrpSpPr>
      <p:grpSpPr>
        <a:xfrm>
          <a:off x="0" y="0"/>
          <a:ext cx="0" cy="0"/>
          <a:chOff x="0" y="0"/>
          <a:chExt cx="0" cy="0"/>
        </a:xfrm>
      </p:grpSpPr>
      <p:sp useBgFill="1">
        <p:nvSpPr>
          <p:cNvPr id="7178" name="Rectangle 7177">
            <a:extLst>
              <a:ext uri="{FF2B5EF4-FFF2-40B4-BE49-F238E27FC236}">
                <a16:creationId xmlns:a16="http://schemas.microsoft.com/office/drawing/2014/main" id="{8B73DA58-5F3A-9551-11DD-7E45F8694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7180" name="Rectangle 7179">
            <a:extLst>
              <a:ext uri="{FF2B5EF4-FFF2-40B4-BE49-F238E27FC236}">
                <a16:creationId xmlns:a16="http://schemas.microsoft.com/office/drawing/2014/main" id="{D51013E4-04C2-AF5E-F889-0873DED99E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2" name="Rectangle 7181">
            <a:extLst>
              <a:ext uri="{FF2B5EF4-FFF2-40B4-BE49-F238E27FC236}">
                <a16:creationId xmlns:a16="http://schemas.microsoft.com/office/drawing/2014/main" id="{D2F18782-A0DA-E7AD-B835-F7D00AA46F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4" name="Rectangle 7183">
            <a:extLst>
              <a:ext uri="{FF2B5EF4-FFF2-40B4-BE49-F238E27FC236}">
                <a16:creationId xmlns:a16="http://schemas.microsoft.com/office/drawing/2014/main" id="{DFBAF6EF-DD4F-59FA-7F8A-FD2D00F1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6" name="Rectangle 7185">
            <a:extLst>
              <a:ext uri="{FF2B5EF4-FFF2-40B4-BE49-F238E27FC236}">
                <a16:creationId xmlns:a16="http://schemas.microsoft.com/office/drawing/2014/main" id="{848F069A-2A2B-76E2-D528-519A9E910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8" name="Freeform: Shape 7187">
            <a:extLst>
              <a:ext uri="{FF2B5EF4-FFF2-40B4-BE49-F238E27FC236}">
                <a16:creationId xmlns:a16="http://schemas.microsoft.com/office/drawing/2014/main" id="{AEB983A4-FC35-CCA6-F953-D40A38223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90" name="Rectangle 7189">
            <a:extLst>
              <a:ext uri="{FF2B5EF4-FFF2-40B4-BE49-F238E27FC236}">
                <a16:creationId xmlns:a16="http://schemas.microsoft.com/office/drawing/2014/main" id="{6FAFB74A-F0E1-5FA7-BBAA-95125661C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70" name="Title 1">
            <a:extLst>
              <a:ext uri="{FF2B5EF4-FFF2-40B4-BE49-F238E27FC236}">
                <a16:creationId xmlns:a16="http://schemas.microsoft.com/office/drawing/2014/main" id="{445F1613-B902-04D5-D177-02AC6C768480}"/>
              </a:ext>
            </a:extLst>
          </p:cNvPr>
          <p:cNvSpPr>
            <a:spLocks noGrp="1"/>
          </p:cNvSpPr>
          <p:nvPr>
            <p:ph type="title"/>
          </p:nvPr>
        </p:nvSpPr>
        <p:spPr>
          <a:xfrm>
            <a:off x="381219" y="489329"/>
            <a:ext cx="3275377" cy="3387497"/>
          </a:xfrm>
        </p:spPr>
        <p:txBody>
          <a:bodyPr anchor="b">
            <a:normAutofit/>
          </a:bodyPr>
          <a:lstStyle/>
          <a:p>
            <a:pPr algn="ctr"/>
            <a:r>
              <a:rPr lang="en-US" sz="4000" b="1" dirty="0">
                <a:solidFill>
                  <a:srgbClr val="FFFFFF"/>
                </a:solidFill>
                <a:latin typeface="Cambria" panose="02040503050406030204" pitchFamily="18" charset="0"/>
              </a:rPr>
              <a:t>PITCH TYPES</a:t>
            </a:r>
          </a:p>
        </p:txBody>
      </p:sp>
      <p:pic>
        <p:nvPicPr>
          <p:cNvPr id="2" name="Picture 1" descr="Logo&#10;&#10;Description automatically generated">
            <a:extLst>
              <a:ext uri="{FF2B5EF4-FFF2-40B4-BE49-F238E27FC236}">
                <a16:creationId xmlns:a16="http://schemas.microsoft.com/office/drawing/2014/main" id="{D38AA469-3D75-FB45-4C7B-A45DE5B37C5D}"/>
              </a:ext>
            </a:extLst>
          </p:cNvPr>
          <p:cNvPicPr>
            <a:picLocks noChangeAspect="1"/>
          </p:cNvPicPr>
          <p:nvPr/>
        </p:nvPicPr>
        <p:blipFill>
          <a:blip r:embed="rId3" cstate="print">
            <a:biLevel thresh="25000"/>
            <a:extLst>
              <a:ext uri="{28A0092B-C50C-407E-A947-70E740481C1C}">
                <a14:useLocalDpi xmlns:a14="http://schemas.microsoft.com/office/drawing/2010/main" val="0"/>
              </a:ext>
            </a:extLst>
          </a:blip>
          <a:srcRect/>
          <a:stretch>
            <a:fillRect/>
          </a:stretch>
        </p:blipFill>
        <p:spPr bwMode="auto">
          <a:xfrm>
            <a:off x="9730962" y="190010"/>
            <a:ext cx="2461038" cy="668155"/>
          </a:xfrm>
          <a:prstGeom prst="rect">
            <a:avLst/>
          </a:prstGeom>
          <a:noFill/>
          <a:ln>
            <a:noFill/>
          </a:ln>
        </p:spPr>
      </p:pic>
      <p:sp>
        <p:nvSpPr>
          <p:cNvPr id="4" name="Slide Number Placeholder 3">
            <a:extLst>
              <a:ext uri="{FF2B5EF4-FFF2-40B4-BE49-F238E27FC236}">
                <a16:creationId xmlns:a16="http://schemas.microsoft.com/office/drawing/2014/main" id="{0C478670-3B95-98C4-16B7-6AB8FBEF1AF3}"/>
              </a:ext>
            </a:extLst>
          </p:cNvPr>
          <p:cNvSpPr>
            <a:spLocks noGrp="1"/>
          </p:cNvSpPr>
          <p:nvPr>
            <p:ph type="sldNum" sz="quarter" idx="12"/>
          </p:nvPr>
        </p:nvSpPr>
        <p:spPr/>
        <p:txBody>
          <a:bodyPr/>
          <a:lstStyle/>
          <a:p>
            <a:fld id="{87ACCF74-76A4-4B7C-AE89-E33624618226}" type="slidenum">
              <a:rPr lang="en-IN" smtClean="0"/>
              <a:t>10</a:t>
            </a:fld>
            <a:endParaRPr lang="en-IN" dirty="0"/>
          </a:p>
        </p:txBody>
      </p:sp>
      <p:graphicFrame>
        <p:nvGraphicFramePr>
          <p:cNvPr id="8" name="Table 7">
            <a:extLst>
              <a:ext uri="{FF2B5EF4-FFF2-40B4-BE49-F238E27FC236}">
                <a16:creationId xmlns:a16="http://schemas.microsoft.com/office/drawing/2014/main" id="{74FA77BA-407D-B8E3-3D44-F99F83BBBAE1}"/>
              </a:ext>
            </a:extLst>
          </p:cNvPr>
          <p:cNvGraphicFramePr>
            <a:graphicFrameLocks noGrp="1"/>
          </p:cNvGraphicFramePr>
          <p:nvPr/>
        </p:nvGraphicFramePr>
        <p:xfrm>
          <a:off x="4205773" y="1387295"/>
          <a:ext cx="7519505" cy="4439925"/>
        </p:xfrm>
        <a:graphic>
          <a:graphicData uri="http://schemas.openxmlformats.org/drawingml/2006/table">
            <a:tbl>
              <a:tblPr firstRow="1" bandRow="1">
                <a:tableStyleId>{9D7B26C5-4107-4FEC-AEDC-1716B250A1EF}</a:tableStyleId>
              </a:tblPr>
              <a:tblGrid>
                <a:gridCol w="708377">
                  <a:extLst>
                    <a:ext uri="{9D8B030D-6E8A-4147-A177-3AD203B41FA5}">
                      <a16:colId xmlns:a16="http://schemas.microsoft.com/office/drawing/2014/main" val="3203546121"/>
                    </a:ext>
                  </a:extLst>
                </a:gridCol>
                <a:gridCol w="2334039">
                  <a:extLst>
                    <a:ext uri="{9D8B030D-6E8A-4147-A177-3AD203B41FA5}">
                      <a16:colId xmlns:a16="http://schemas.microsoft.com/office/drawing/2014/main" val="2385186939"/>
                    </a:ext>
                  </a:extLst>
                </a:gridCol>
                <a:gridCol w="4477089">
                  <a:extLst>
                    <a:ext uri="{9D8B030D-6E8A-4147-A177-3AD203B41FA5}">
                      <a16:colId xmlns:a16="http://schemas.microsoft.com/office/drawing/2014/main" val="3686962087"/>
                    </a:ext>
                  </a:extLst>
                </a:gridCol>
              </a:tblGrid>
              <a:tr h="357252">
                <a:tc>
                  <a:txBody>
                    <a:bodyPr/>
                    <a:lstStyle/>
                    <a:p>
                      <a:pPr algn="ctr"/>
                      <a:r>
                        <a:rPr lang="en-US" dirty="0"/>
                        <a:t>Sr.</a:t>
                      </a:r>
                      <a:endParaRPr lang="en-IN" dirty="0"/>
                    </a:p>
                  </a:txBody>
                  <a:tcPr anchor="ctr"/>
                </a:tc>
                <a:tc>
                  <a:txBody>
                    <a:bodyPr/>
                    <a:lstStyle/>
                    <a:p>
                      <a:pPr algn="ctr"/>
                      <a:r>
                        <a:rPr lang="en-US" dirty="0"/>
                        <a:t>Type</a:t>
                      </a:r>
                      <a:endParaRPr lang="en-IN" dirty="0"/>
                    </a:p>
                  </a:txBody>
                  <a:tcPr anchor="ctr"/>
                </a:tc>
                <a:tc>
                  <a:txBody>
                    <a:bodyPr/>
                    <a:lstStyle/>
                    <a:p>
                      <a:pPr algn="ctr"/>
                      <a:r>
                        <a:rPr lang="en-US" dirty="0"/>
                        <a:t>Key Skills Tested</a:t>
                      </a:r>
                      <a:endParaRPr lang="en-IN" dirty="0"/>
                    </a:p>
                  </a:txBody>
                  <a:tcPr anchor="ctr"/>
                </a:tc>
                <a:extLst>
                  <a:ext uri="{0D108BD9-81ED-4DB2-BD59-A6C34878D82A}">
                    <a16:rowId xmlns:a16="http://schemas.microsoft.com/office/drawing/2014/main" val="2519665982"/>
                  </a:ext>
                </a:extLst>
              </a:tr>
              <a:tr h="357252">
                <a:tc>
                  <a:txBody>
                    <a:bodyPr/>
                    <a:lstStyle/>
                    <a:p>
                      <a:pPr algn="ctr"/>
                      <a:r>
                        <a:rPr lang="en-US" dirty="0"/>
                        <a:t>1</a:t>
                      </a:r>
                      <a:endParaRPr lang="en-IN" dirty="0"/>
                    </a:p>
                  </a:txBody>
                  <a:tcPr anchor="ctr"/>
                </a:tc>
                <a:tc>
                  <a:txBody>
                    <a:bodyPr/>
                    <a:lstStyle/>
                    <a:p>
                      <a:pPr algn="ctr"/>
                      <a:r>
                        <a:rPr lang="en-US" dirty="0"/>
                        <a:t>Idea Validation</a:t>
                      </a:r>
                      <a:endParaRPr lang="en-IN" dirty="0"/>
                    </a:p>
                  </a:txBody>
                  <a:tcPr anchor="ctr"/>
                </a:tc>
                <a:tc>
                  <a:txBody>
                    <a:bodyPr/>
                    <a:lstStyle/>
                    <a:p>
                      <a:pPr algn="ctr"/>
                      <a:r>
                        <a:rPr lang="en-US" sz="1800" b="0" i="0" kern="1200" dirty="0">
                          <a:solidFill>
                            <a:schemeClr val="tx1"/>
                          </a:solidFill>
                          <a:effectLst/>
                          <a:latin typeface="+mn-lt"/>
                          <a:ea typeface="+mn-ea"/>
                          <a:cs typeface="+mn-cs"/>
                        </a:rPr>
                        <a:t>Problem clarity, evidence, customer definition</a:t>
                      </a:r>
                      <a:endParaRPr lang="en-IN" dirty="0"/>
                    </a:p>
                  </a:txBody>
                  <a:tcPr anchor="ctr"/>
                </a:tc>
                <a:extLst>
                  <a:ext uri="{0D108BD9-81ED-4DB2-BD59-A6C34878D82A}">
                    <a16:rowId xmlns:a16="http://schemas.microsoft.com/office/drawing/2014/main" val="303619074"/>
                  </a:ext>
                </a:extLst>
              </a:tr>
              <a:tr h="357252">
                <a:tc>
                  <a:txBody>
                    <a:bodyPr/>
                    <a:lstStyle/>
                    <a:p>
                      <a:pPr algn="ctr"/>
                      <a:r>
                        <a:rPr lang="en-US" dirty="0"/>
                        <a:t>2</a:t>
                      </a:r>
                      <a:endParaRPr lang="en-IN" dirty="0"/>
                    </a:p>
                  </a:txBody>
                  <a:tcPr anchor="ctr"/>
                </a:tc>
                <a:tc>
                  <a:txBody>
                    <a:bodyPr/>
                    <a:lstStyle/>
                    <a:p>
                      <a:pPr algn="ctr"/>
                      <a:r>
                        <a:rPr lang="en-US" dirty="0"/>
                        <a:t>Elevator Pitch</a:t>
                      </a:r>
                      <a:endParaRPr lang="en-IN" dirty="0"/>
                    </a:p>
                  </a:txBody>
                  <a:tcPr anchor="ctr"/>
                </a:tc>
                <a:tc>
                  <a:txBody>
                    <a:bodyPr/>
                    <a:lstStyle/>
                    <a:p>
                      <a:pPr algn="ctr">
                        <a:buNone/>
                      </a:pPr>
                      <a:r>
                        <a:rPr lang="en-US" dirty="0">
                          <a:effectLst/>
                        </a:rPr>
                        <a:t>Clarity, memorability, confidence</a:t>
                      </a:r>
                    </a:p>
                  </a:txBody>
                  <a:tcPr marL="19050" marR="19050" marT="19050" marB="19050" anchor="ctr"/>
                </a:tc>
                <a:extLst>
                  <a:ext uri="{0D108BD9-81ED-4DB2-BD59-A6C34878D82A}">
                    <a16:rowId xmlns:a16="http://schemas.microsoft.com/office/drawing/2014/main" val="2922879907"/>
                  </a:ext>
                </a:extLst>
              </a:tr>
              <a:tr h="357252">
                <a:tc>
                  <a:txBody>
                    <a:bodyPr/>
                    <a:lstStyle/>
                    <a:p>
                      <a:pPr algn="ctr"/>
                      <a:r>
                        <a:rPr lang="en-US" dirty="0"/>
                        <a:t>3</a:t>
                      </a:r>
                      <a:endParaRPr lang="en-IN" dirty="0"/>
                    </a:p>
                  </a:txBody>
                  <a:tcPr anchor="ctr"/>
                </a:tc>
                <a:tc>
                  <a:txBody>
                    <a:bodyPr/>
                    <a:lstStyle/>
                    <a:p>
                      <a:pPr algn="ctr"/>
                      <a:r>
                        <a:rPr lang="en-US" dirty="0"/>
                        <a:t>VC Ready</a:t>
                      </a:r>
                      <a:endParaRPr lang="en-IN" dirty="0"/>
                    </a:p>
                  </a:txBody>
                  <a:tcPr anchor="ctr"/>
                </a:tc>
                <a:tc>
                  <a:txBody>
                    <a:bodyPr/>
                    <a:lstStyle/>
                    <a:p>
                      <a:pPr algn="ctr"/>
                      <a:r>
                        <a:rPr lang="en-US" dirty="0"/>
                        <a:t>Market sizing, traction, financials</a:t>
                      </a:r>
                      <a:endParaRPr lang="en-IN" dirty="0"/>
                    </a:p>
                  </a:txBody>
                  <a:tcPr anchor="ctr"/>
                </a:tc>
                <a:extLst>
                  <a:ext uri="{0D108BD9-81ED-4DB2-BD59-A6C34878D82A}">
                    <a16:rowId xmlns:a16="http://schemas.microsoft.com/office/drawing/2014/main" val="1954415594"/>
                  </a:ext>
                </a:extLst>
              </a:tr>
              <a:tr h="357252">
                <a:tc>
                  <a:txBody>
                    <a:bodyPr/>
                    <a:lstStyle/>
                    <a:p>
                      <a:pPr algn="ctr"/>
                      <a:r>
                        <a:rPr lang="en-US" dirty="0"/>
                        <a:t>4</a:t>
                      </a:r>
                      <a:endParaRPr lang="en-IN" dirty="0"/>
                    </a:p>
                  </a:txBody>
                  <a:tcPr anchor="ctr"/>
                </a:tc>
                <a:tc>
                  <a:txBody>
                    <a:bodyPr/>
                    <a:lstStyle/>
                    <a:p>
                      <a:pPr algn="ctr"/>
                      <a:r>
                        <a:rPr lang="en-US" dirty="0"/>
                        <a:t>Product Feedback</a:t>
                      </a:r>
                      <a:endParaRPr lang="en-IN" dirty="0"/>
                    </a:p>
                  </a:txBody>
                  <a:tcPr anchor="ctr"/>
                </a:tc>
                <a:tc>
                  <a:txBody>
                    <a:bodyPr/>
                    <a:lstStyle/>
                    <a:p>
                      <a:pPr algn="ctr"/>
                      <a:r>
                        <a:rPr lang="en-IN" sz="1800" b="0" i="0" kern="1200" dirty="0">
                          <a:solidFill>
                            <a:schemeClr val="tx1"/>
                          </a:solidFill>
                          <a:effectLst/>
                          <a:latin typeface="+mn-lt"/>
                          <a:ea typeface="+mn-ea"/>
                          <a:cs typeface="+mn-cs"/>
                        </a:rPr>
                        <a:t>Feature prioritization, user empathy</a:t>
                      </a:r>
                      <a:endParaRPr lang="en-IN" dirty="0"/>
                    </a:p>
                  </a:txBody>
                  <a:tcPr anchor="ctr"/>
                </a:tc>
                <a:extLst>
                  <a:ext uri="{0D108BD9-81ED-4DB2-BD59-A6C34878D82A}">
                    <a16:rowId xmlns:a16="http://schemas.microsoft.com/office/drawing/2014/main" val="1882712269"/>
                  </a:ext>
                </a:extLst>
              </a:tr>
              <a:tr h="356250">
                <a:tc>
                  <a:txBody>
                    <a:bodyPr/>
                    <a:lstStyle/>
                    <a:p>
                      <a:pPr algn="ctr"/>
                      <a:r>
                        <a:rPr lang="en-US" dirty="0"/>
                        <a:t>5</a:t>
                      </a:r>
                      <a:endParaRPr lang="en-IN" dirty="0"/>
                    </a:p>
                  </a:txBody>
                  <a:tcPr anchor="ctr"/>
                </a:tc>
                <a:tc>
                  <a:txBody>
                    <a:bodyPr/>
                    <a:lstStyle/>
                    <a:p>
                      <a:pPr algn="ctr"/>
                      <a:r>
                        <a:rPr lang="en-US" dirty="0"/>
                        <a:t>Customer Discovery</a:t>
                      </a:r>
                      <a:endParaRPr lang="en-IN" dirty="0"/>
                    </a:p>
                  </a:txBody>
                  <a:tcPr anchor="ctr"/>
                </a:tc>
                <a:tc>
                  <a:txBody>
                    <a:bodyPr/>
                    <a:lstStyle/>
                    <a:p>
                      <a:pPr algn="ctr"/>
                      <a:r>
                        <a:rPr lang="en-IN" sz="1800" b="0" i="0" kern="1200" dirty="0">
                          <a:solidFill>
                            <a:schemeClr val="tx1"/>
                          </a:solidFill>
                          <a:effectLst/>
                          <a:latin typeface="+mn-lt"/>
                          <a:ea typeface="+mn-ea"/>
                          <a:cs typeface="+mn-cs"/>
                        </a:rPr>
                        <a:t>Interview technique, assumption testing</a:t>
                      </a:r>
                      <a:endParaRPr lang="en-IN" dirty="0"/>
                    </a:p>
                  </a:txBody>
                  <a:tcPr anchor="ctr"/>
                </a:tc>
                <a:extLst>
                  <a:ext uri="{0D108BD9-81ED-4DB2-BD59-A6C34878D82A}">
                    <a16:rowId xmlns:a16="http://schemas.microsoft.com/office/drawing/2014/main" val="4033728600"/>
                  </a:ext>
                </a:extLst>
              </a:tr>
              <a:tr h="463567">
                <a:tc>
                  <a:txBody>
                    <a:bodyPr/>
                    <a:lstStyle/>
                    <a:p>
                      <a:pPr algn="ctr"/>
                      <a:r>
                        <a:rPr lang="en-US" dirty="0"/>
                        <a:t>6</a:t>
                      </a:r>
                      <a:endParaRPr lang="en-IN" dirty="0"/>
                    </a:p>
                  </a:txBody>
                  <a:tcPr anchor="ctr"/>
                </a:tc>
                <a:tc>
                  <a:txBody>
                    <a:bodyPr/>
                    <a:lstStyle/>
                    <a:p>
                      <a:pPr algn="ctr"/>
                      <a:r>
                        <a:rPr lang="en-US" dirty="0"/>
                        <a:t>Technical Pitch</a:t>
                      </a:r>
                      <a:endParaRPr lang="en-IN" dirty="0"/>
                    </a:p>
                  </a:txBody>
                  <a:tcPr anchor="ctr"/>
                </a:tc>
                <a:tc>
                  <a:txBody>
                    <a:bodyPr/>
                    <a:lstStyle/>
                    <a:p>
                      <a:pPr algn="ctr"/>
                      <a:r>
                        <a:rPr lang="en-IN" sz="1800" b="0" i="0" kern="1200" dirty="0">
                          <a:solidFill>
                            <a:schemeClr val="tx1"/>
                          </a:solidFill>
                          <a:effectLst/>
                          <a:latin typeface="+mn-lt"/>
                          <a:ea typeface="+mn-ea"/>
                          <a:cs typeface="+mn-cs"/>
                        </a:rPr>
                        <a:t>Architecture clarity, scalability vision</a:t>
                      </a:r>
                      <a:endParaRPr lang="en-IN" dirty="0"/>
                    </a:p>
                  </a:txBody>
                  <a:tcPr anchor="ctr"/>
                </a:tc>
                <a:extLst>
                  <a:ext uri="{0D108BD9-81ED-4DB2-BD59-A6C34878D82A}">
                    <a16:rowId xmlns:a16="http://schemas.microsoft.com/office/drawing/2014/main" val="2562211559"/>
                  </a:ext>
                </a:extLst>
              </a:tr>
              <a:tr h="410198">
                <a:tc>
                  <a:txBody>
                    <a:bodyPr/>
                    <a:lstStyle/>
                    <a:p>
                      <a:pPr algn="ctr"/>
                      <a:r>
                        <a:rPr lang="en-US" dirty="0"/>
                        <a:t>7</a:t>
                      </a:r>
                      <a:endParaRPr lang="en-IN" dirty="0"/>
                    </a:p>
                  </a:txBody>
                  <a:tcPr anchor="ctr"/>
                </a:tc>
                <a:tc>
                  <a:txBody>
                    <a:bodyPr/>
                    <a:lstStyle/>
                    <a:p>
                      <a:pPr algn="ctr"/>
                      <a:r>
                        <a:rPr lang="en-US" dirty="0"/>
                        <a:t>Demo Day</a:t>
                      </a:r>
                      <a:endParaRPr lang="en-IN" dirty="0"/>
                    </a:p>
                  </a:txBody>
                  <a:tcPr anchor="ctr"/>
                </a:tc>
                <a:tc>
                  <a:txBody>
                    <a:bodyPr/>
                    <a:lstStyle/>
                    <a:p>
                      <a:pPr algn="ctr"/>
                      <a:r>
                        <a:rPr lang="en-IN"/>
                        <a:t>Storytelling, time management</a:t>
                      </a:r>
                      <a:endParaRPr lang="en-IN" dirty="0"/>
                    </a:p>
                  </a:txBody>
                  <a:tcPr anchor="ctr"/>
                </a:tc>
                <a:extLst>
                  <a:ext uri="{0D108BD9-81ED-4DB2-BD59-A6C34878D82A}">
                    <a16:rowId xmlns:a16="http://schemas.microsoft.com/office/drawing/2014/main" val="363563145"/>
                  </a:ext>
                </a:extLst>
              </a:tr>
              <a:tr h="356250">
                <a:tc>
                  <a:txBody>
                    <a:bodyPr/>
                    <a:lstStyle/>
                    <a:p>
                      <a:pPr algn="ctr"/>
                      <a:r>
                        <a:rPr lang="en-US" dirty="0"/>
                        <a:t>8</a:t>
                      </a:r>
                      <a:endParaRPr lang="en-IN" dirty="0"/>
                    </a:p>
                  </a:txBody>
                  <a:tcPr anchor="ctr"/>
                </a:tc>
                <a:tc>
                  <a:txBody>
                    <a:bodyPr/>
                    <a:lstStyle/>
                    <a:p>
                      <a:pPr algn="ctr"/>
                      <a:r>
                        <a:rPr lang="en-US" dirty="0"/>
                        <a:t>Customer Pitch</a:t>
                      </a:r>
                      <a:endParaRPr lang="en-IN" dirty="0"/>
                    </a:p>
                  </a:txBody>
                  <a:tcPr anchor="ctr"/>
                </a:tc>
                <a:tc>
                  <a:txBody>
                    <a:bodyPr/>
                    <a:lstStyle/>
                    <a:p>
                      <a:pPr algn="ctr"/>
                      <a:r>
                        <a:rPr lang="en-IN" dirty="0"/>
                        <a:t>Value proposition, objection handling</a:t>
                      </a:r>
                    </a:p>
                  </a:txBody>
                  <a:tcPr anchor="ctr"/>
                </a:tc>
                <a:extLst>
                  <a:ext uri="{0D108BD9-81ED-4DB2-BD59-A6C34878D82A}">
                    <a16:rowId xmlns:a16="http://schemas.microsoft.com/office/drawing/2014/main" val="589500626"/>
                  </a:ext>
                </a:extLst>
              </a:tr>
              <a:tr h="356250">
                <a:tc>
                  <a:txBody>
                    <a:bodyPr/>
                    <a:lstStyle/>
                    <a:p>
                      <a:pPr algn="ctr"/>
                      <a:r>
                        <a:rPr lang="en-US" dirty="0"/>
                        <a:t>9</a:t>
                      </a:r>
                      <a:endParaRPr lang="en-IN" dirty="0"/>
                    </a:p>
                  </a:txBody>
                  <a:tcPr anchor="ctr"/>
                </a:tc>
                <a:tc>
                  <a:txBody>
                    <a:bodyPr/>
                    <a:lstStyle/>
                    <a:p>
                      <a:pPr algn="ctr"/>
                      <a:r>
                        <a:rPr lang="en-US" dirty="0"/>
                        <a:t>Co-Founder Pitch</a:t>
                      </a:r>
                      <a:endParaRPr lang="en-IN" dirty="0"/>
                    </a:p>
                  </a:txBody>
                  <a:tcPr anchor="ctr"/>
                </a:tc>
                <a:tc>
                  <a:txBody>
                    <a:bodyPr/>
                    <a:lstStyle/>
                    <a:p>
                      <a:pPr algn="ctr"/>
                      <a:r>
                        <a:rPr lang="en-IN" dirty="0"/>
                        <a:t>Vision alignment, role clarity</a:t>
                      </a:r>
                    </a:p>
                  </a:txBody>
                  <a:tcPr anchor="ctr"/>
                </a:tc>
                <a:extLst>
                  <a:ext uri="{0D108BD9-81ED-4DB2-BD59-A6C34878D82A}">
                    <a16:rowId xmlns:a16="http://schemas.microsoft.com/office/drawing/2014/main" val="2620945064"/>
                  </a:ext>
                </a:extLst>
              </a:tr>
              <a:tr h="356250">
                <a:tc>
                  <a:txBody>
                    <a:bodyPr/>
                    <a:lstStyle/>
                    <a:p>
                      <a:pPr algn="ctr"/>
                      <a:r>
                        <a:rPr lang="en-US" dirty="0"/>
                        <a:t>10</a:t>
                      </a:r>
                      <a:endParaRPr lang="en-IN" dirty="0"/>
                    </a:p>
                  </a:txBody>
                  <a:tcPr anchor="ctr"/>
                </a:tc>
                <a:tc>
                  <a:txBody>
                    <a:bodyPr/>
                    <a:lstStyle/>
                    <a:p>
                      <a:pPr algn="ctr"/>
                      <a:r>
                        <a:rPr lang="en-US" dirty="0"/>
                        <a:t>Investor Skeptic</a:t>
                      </a:r>
                      <a:endParaRPr lang="en-IN" dirty="0"/>
                    </a:p>
                  </a:txBody>
                  <a:tcPr anchor="ctr"/>
                </a:tc>
                <a:tc>
                  <a:txBody>
                    <a:bodyPr/>
                    <a:lstStyle/>
                    <a:p>
                      <a:pPr algn="ctr"/>
                      <a:r>
                        <a:rPr lang="en-IN" dirty="0"/>
                        <a:t>	Pressure handling, composure, realism</a:t>
                      </a:r>
                    </a:p>
                  </a:txBody>
                  <a:tcPr anchor="ctr"/>
                </a:tc>
                <a:extLst>
                  <a:ext uri="{0D108BD9-81ED-4DB2-BD59-A6C34878D82A}">
                    <a16:rowId xmlns:a16="http://schemas.microsoft.com/office/drawing/2014/main" val="3823952785"/>
                  </a:ext>
                </a:extLst>
              </a:tr>
            </a:tbl>
          </a:graphicData>
        </a:graphic>
      </p:graphicFrame>
    </p:spTree>
    <p:extLst>
      <p:ext uri="{BB962C8B-B14F-4D97-AF65-F5344CB8AC3E}">
        <p14:creationId xmlns:p14="http://schemas.microsoft.com/office/powerpoint/2010/main" val="29273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9346" y="278535"/>
            <a:ext cx="9895951" cy="1033669"/>
          </a:xfrm>
        </p:spPr>
        <p:txBody>
          <a:bodyPr>
            <a:normAutofit/>
          </a:bodyPr>
          <a:lstStyle/>
          <a:p>
            <a:r>
              <a:rPr lang="en-IN" sz="4000" b="1" dirty="0">
                <a:solidFill>
                  <a:srgbClr val="FFFFFF"/>
                </a:solidFill>
                <a:latin typeface="Cambria" panose="02040503050406030204" pitchFamily="18" charset="0"/>
              </a:rPr>
              <a:t>STRUCTURED ASSESSMENT</a:t>
            </a:r>
          </a:p>
        </p:txBody>
      </p:sp>
      <p:pic>
        <p:nvPicPr>
          <p:cNvPr id="7" name="Picture 6" descr="Logo&#10;&#10;Description automatically generated">
            <a:extLst>
              <a:ext uri="{FF2B5EF4-FFF2-40B4-BE49-F238E27FC236}">
                <a16:creationId xmlns:a16="http://schemas.microsoft.com/office/drawing/2014/main" id="{40C23DFE-E8D6-EB69-3191-B2F7ACC9061F}"/>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8922449" y="461106"/>
            <a:ext cx="2462400" cy="668525"/>
          </a:xfrm>
          <a:prstGeom prst="rect">
            <a:avLst/>
          </a:prstGeom>
          <a:noFill/>
          <a:ln>
            <a:noFill/>
          </a:ln>
        </p:spPr>
      </p:pic>
      <p:sp>
        <p:nvSpPr>
          <p:cNvPr id="4" name="Slide Number Placeholder 3">
            <a:extLst>
              <a:ext uri="{FF2B5EF4-FFF2-40B4-BE49-F238E27FC236}">
                <a16:creationId xmlns:a16="http://schemas.microsoft.com/office/drawing/2014/main" id="{E8F087AE-52F0-D9AF-7C05-546BE8E46FAB}"/>
              </a:ext>
            </a:extLst>
          </p:cNvPr>
          <p:cNvSpPr>
            <a:spLocks noGrp="1"/>
          </p:cNvSpPr>
          <p:nvPr>
            <p:ph type="sldNum" sz="quarter" idx="12"/>
          </p:nvPr>
        </p:nvSpPr>
        <p:spPr/>
        <p:txBody>
          <a:bodyPr/>
          <a:lstStyle/>
          <a:p>
            <a:fld id="{87ACCF74-76A4-4B7C-AE89-E33624618226}" type="slidenum">
              <a:rPr lang="en-IN" smtClean="0"/>
              <a:t>11</a:t>
            </a:fld>
            <a:endParaRPr lang="en-IN" dirty="0"/>
          </a:p>
        </p:txBody>
      </p:sp>
      <p:sp>
        <p:nvSpPr>
          <p:cNvPr id="5" name="Rectangle 1">
            <a:extLst>
              <a:ext uri="{FF2B5EF4-FFF2-40B4-BE49-F238E27FC236}">
                <a16:creationId xmlns:a16="http://schemas.microsoft.com/office/drawing/2014/main" id="{A05F6B54-B422-0D66-AA4C-C2542FAC612D}"/>
              </a:ext>
            </a:extLst>
          </p:cNvPr>
          <p:cNvSpPr>
            <a:spLocks noGrp="1" noChangeArrowheads="1"/>
          </p:cNvSpPr>
          <p:nvPr>
            <p:ph idx="1"/>
          </p:nvPr>
        </p:nvSpPr>
        <p:spPr bwMode="auto">
          <a:xfrm>
            <a:off x="6341564" y="2262040"/>
            <a:ext cx="574062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the end of each conversation, the AI generates a structured JSON assessment: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Per-category scores (1–5) with detailed analysis for each metric</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Overall rating: Excellent, Good, Fair, or Poor</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Strengths: what the founder did well</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Weaknesses: areas needing improvement</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Biggest concern: the most critical issue to address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Improvement suggestions: actionable next steps</a:t>
            </a:r>
          </a:p>
          <a:p>
            <a:pPr eaLnBrk="0" fontAlgn="base" hangingPunct="0">
              <a:lnSpc>
                <a:spcPct val="100000"/>
              </a:lnSpc>
              <a:spcBef>
                <a:spcPct val="0"/>
              </a:spcBef>
              <a:spcAft>
                <a:spcPct val="0"/>
              </a:spcAft>
            </a:pPr>
            <a:r>
              <a:rPr lang="en-US" altLang="en-US" sz="1800" dirty="0">
                <a:latin typeface="Cambria" panose="02040503050406030204" pitchFamily="18" charset="0"/>
                <a:ea typeface="Cambria" panose="02040503050406030204" pitchFamily="18" charset="0"/>
              </a:rPr>
              <a:t>Call recording: For playback analysis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Transcript: For future reference</a:t>
            </a:r>
          </a:p>
        </p:txBody>
      </p:sp>
      <p:pic>
        <p:nvPicPr>
          <p:cNvPr id="6" name="Picture 5">
            <a:extLst>
              <a:ext uri="{FF2B5EF4-FFF2-40B4-BE49-F238E27FC236}">
                <a16:creationId xmlns:a16="http://schemas.microsoft.com/office/drawing/2014/main" id="{A5D7C154-E055-8D36-921F-BD1D2C6EBE4E}"/>
              </a:ext>
            </a:extLst>
          </p:cNvPr>
          <p:cNvPicPr>
            <a:picLocks noChangeAspect="1"/>
          </p:cNvPicPr>
          <p:nvPr/>
        </p:nvPicPr>
        <p:blipFill>
          <a:blip r:embed="rId4">
            <a:extLst>
              <a:ext uri="{28A0092B-C50C-407E-A947-70E740481C1C}">
                <a14:useLocalDpi xmlns:a14="http://schemas.microsoft.com/office/drawing/2010/main" val="0"/>
              </a:ext>
            </a:extLst>
          </a:blip>
          <a:srcRect l="19346" r="20426"/>
          <a:stretch>
            <a:fillRect/>
          </a:stretch>
        </p:blipFill>
        <p:spPr>
          <a:xfrm>
            <a:off x="180168" y="1772846"/>
            <a:ext cx="6075666" cy="4817977"/>
          </a:xfrm>
          <a:prstGeom prst="rect">
            <a:avLst/>
          </a:prstGeom>
        </p:spPr>
      </p:pic>
    </p:spTree>
    <p:extLst>
      <p:ext uri="{BB962C8B-B14F-4D97-AF65-F5344CB8AC3E}">
        <p14:creationId xmlns:p14="http://schemas.microsoft.com/office/powerpoint/2010/main" val="958941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0EFC36-7267-2E31-AB6C-3EF694CE069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0B2B301-B48C-C264-04DF-F12CFC8AE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24F50D1-0177-C107-A3E1-E51BB78202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D01D8DA8-1995-16A8-57E8-F9AB66059C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20DC802B-A821-75FE-7789-1E80CDF7D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D589DD9F-C564-455A-55B5-BAEF2D1B3E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AF70AFC-F81A-276A-E561-99C2382DAFB5}"/>
              </a:ext>
            </a:extLst>
          </p:cNvPr>
          <p:cNvSpPr>
            <a:spLocks noGrp="1"/>
          </p:cNvSpPr>
          <p:nvPr>
            <p:ph type="title"/>
          </p:nvPr>
        </p:nvSpPr>
        <p:spPr>
          <a:xfrm>
            <a:off x="459346" y="186741"/>
            <a:ext cx="8115295" cy="1217257"/>
          </a:xfrm>
        </p:spPr>
        <p:txBody>
          <a:bodyPr>
            <a:normAutofit/>
          </a:bodyPr>
          <a:lstStyle/>
          <a:p>
            <a:r>
              <a:rPr lang="en-IN" sz="4000" b="1" dirty="0">
                <a:solidFill>
                  <a:schemeClr val="bg1"/>
                </a:solidFill>
                <a:latin typeface="Cambria" panose="02040503050406030204" pitchFamily="18" charset="0"/>
              </a:rPr>
              <a:t>CONTEXT CARRY FORWARD</a:t>
            </a:r>
          </a:p>
        </p:txBody>
      </p:sp>
      <p:pic>
        <p:nvPicPr>
          <p:cNvPr id="7" name="Picture 6" descr="Logo&#10;&#10;Description automatically generated">
            <a:extLst>
              <a:ext uri="{FF2B5EF4-FFF2-40B4-BE49-F238E27FC236}">
                <a16:creationId xmlns:a16="http://schemas.microsoft.com/office/drawing/2014/main" id="{9C60A64F-E3E6-05F8-242C-A3A75D98F094}"/>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8922448" y="461106"/>
            <a:ext cx="2462400" cy="668525"/>
          </a:xfrm>
          <a:prstGeom prst="rect">
            <a:avLst/>
          </a:prstGeom>
          <a:noFill/>
          <a:ln>
            <a:noFill/>
          </a:ln>
        </p:spPr>
      </p:pic>
      <p:sp>
        <p:nvSpPr>
          <p:cNvPr id="8" name="Content Placeholder 2">
            <a:extLst>
              <a:ext uri="{FF2B5EF4-FFF2-40B4-BE49-F238E27FC236}">
                <a16:creationId xmlns:a16="http://schemas.microsoft.com/office/drawing/2014/main" id="{FCDC2E16-BEDE-402E-B731-6328732644DF}"/>
              </a:ext>
            </a:extLst>
          </p:cNvPr>
          <p:cNvSpPr txBox="1">
            <a:spLocks/>
          </p:cNvSpPr>
          <p:nvPr/>
        </p:nvSpPr>
        <p:spPr>
          <a:xfrm>
            <a:off x="2373991" y="2461421"/>
            <a:ext cx="8195620" cy="5529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IN" dirty="0">
              <a:solidFill>
                <a:srgbClr val="0033CC"/>
              </a:solidFill>
              <a:latin typeface="Cambria" panose="02040503050406030204" pitchFamily="18" charset="0"/>
            </a:endParaRPr>
          </a:p>
        </p:txBody>
      </p:sp>
      <p:sp>
        <p:nvSpPr>
          <p:cNvPr id="4" name="Slide Number Placeholder 3">
            <a:extLst>
              <a:ext uri="{FF2B5EF4-FFF2-40B4-BE49-F238E27FC236}">
                <a16:creationId xmlns:a16="http://schemas.microsoft.com/office/drawing/2014/main" id="{42930546-44B5-5763-18BD-3EBBEC3D9E1D}"/>
              </a:ext>
            </a:extLst>
          </p:cNvPr>
          <p:cNvSpPr>
            <a:spLocks noGrp="1"/>
          </p:cNvSpPr>
          <p:nvPr>
            <p:ph type="sldNum" sz="quarter" idx="12"/>
          </p:nvPr>
        </p:nvSpPr>
        <p:spPr/>
        <p:txBody>
          <a:bodyPr/>
          <a:lstStyle/>
          <a:p>
            <a:fld id="{87ACCF74-76A4-4B7C-AE89-E33624618226}" type="slidenum">
              <a:rPr lang="en-IN" smtClean="0"/>
              <a:t>12</a:t>
            </a:fld>
            <a:endParaRPr lang="en-IN" dirty="0"/>
          </a:p>
        </p:txBody>
      </p:sp>
      <p:sp>
        <p:nvSpPr>
          <p:cNvPr id="3" name="Content Placeholder 2">
            <a:extLst>
              <a:ext uri="{FF2B5EF4-FFF2-40B4-BE49-F238E27FC236}">
                <a16:creationId xmlns:a16="http://schemas.microsoft.com/office/drawing/2014/main" id="{07BBABD5-2925-D4BF-514B-DC85C6C1EE5A}"/>
              </a:ext>
            </a:extLst>
          </p:cNvPr>
          <p:cNvSpPr>
            <a:spLocks noGrp="1"/>
          </p:cNvSpPr>
          <p:nvPr>
            <p:ph idx="1"/>
          </p:nvPr>
        </p:nvSpPr>
        <p:spPr/>
        <p:txBody>
          <a:bodyPr>
            <a:normAutofit/>
          </a:bodyPr>
          <a:lstStyle/>
          <a:p>
            <a:r>
              <a:rPr lang="en-US" sz="2300" dirty="0"/>
              <a:t>Founder selects an idea from their Idea Bank</a:t>
            </a:r>
          </a:p>
          <a:p>
            <a:r>
              <a:rPr lang="en-US" sz="2300" dirty="0"/>
              <a:t>System queries up to 10 previous pitch sessions for that idea</a:t>
            </a:r>
          </a:p>
          <a:p>
            <a:r>
              <a:rPr lang="en-US" sz="2300" dirty="0"/>
              <a:t>Founder picks a prior session: system extracts a condensed summary (rating, strengths, weaknesses) capped at 1,500 characters</a:t>
            </a:r>
          </a:p>
          <a:p>
            <a:r>
              <a:rPr lang="en-US" sz="2300" dirty="0"/>
              <a:t>Summary is injected into the AI's system prompt via Vapi template variable substitution</a:t>
            </a:r>
          </a:p>
          <a:p>
            <a:r>
              <a:rPr lang="en-US" sz="2300" dirty="0"/>
              <a:t>AI investor acknowledges prior performance</a:t>
            </a:r>
          </a:p>
          <a:p>
            <a:pPr marL="0" indent="0">
              <a:buNone/>
            </a:pPr>
            <a:endParaRPr lang="en-US" sz="2300" dirty="0"/>
          </a:p>
          <a:p>
            <a:pPr marL="0" indent="0">
              <a:buNone/>
            </a:pPr>
            <a:r>
              <a:rPr lang="en-US" sz="2300" dirty="0"/>
              <a:t>Each session is informed by past feedback, creating a realistic coaching progression.</a:t>
            </a:r>
            <a:endParaRPr lang="en-IN" sz="2300" dirty="0"/>
          </a:p>
        </p:txBody>
      </p:sp>
    </p:spTree>
    <p:extLst>
      <p:ext uri="{BB962C8B-B14F-4D97-AF65-F5344CB8AC3E}">
        <p14:creationId xmlns:p14="http://schemas.microsoft.com/office/powerpoint/2010/main" val="3656816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9F28D0-1BC0-164D-668B-2679F76008D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C971B56-3FDB-ED4B-E9B0-7991DF10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0E1DC25-B816-523E-3D0F-706DD0C55C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46D8872-114C-69C6-D792-0CD29ACA47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A75FBDD-B073-BA89-A65B-E00F88870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CA5167E-924C-0A25-6F9A-908098F49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460E4BF5-30BD-2F2F-B680-957C86D2391C}"/>
              </a:ext>
            </a:extLst>
          </p:cNvPr>
          <p:cNvSpPr txBox="1">
            <a:spLocks/>
          </p:cNvSpPr>
          <p:nvPr/>
        </p:nvSpPr>
        <p:spPr bwMode="gray">
          <a:xfrm>
            <a:off x="460502" y="318061"/>
            <a:ext cx="7857597" cy="9546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lgn="l" defTabSz="1042988" rtl="0" eaLnBrk="0" fontAlgn="base" hangingPunct="0">
              <a:spcBef>
                <a:spcPct val="0"/>
              </a:spcBef>
              <a:spcAft>
                <a:spcPct val="0"/>
              </a:spcAft>
              <a:defRPr sz="2400" b="1">
                <a:solidFill>
                  <a:schemeClr val="tx1"/>
                </a:solidFill>
                <a:latin typeface="+mj-lt"/>
                <a:ea typeface="+mj-ea"/>
                <a:cs typeface="+mj-cs"/>
              </a:defRPr>
            </a:lvl1pPr>
            <a:lvl2pPr algn="l" defTabSz="1042988" rtl="0" eaLnBrk="0" fontAlgn="base" hangingPunct="0">
              <a:spcBef>
                <a:spcPct val="0"/>
              </a:spcBef>
              <a:spcAft>
                <a:spcPct val="0"/>
              </a:spcAft>
              <a:defRPr sz="2400" b="1">
                <a:solidFill>
                  <a:schemeClr val="tx1"/>
                </a:solidFill>
                <a:latin typeface="Arial" charset="0"/>
                <a:cs typeface="Arial" charset="0"/>
              </a:defRPr>
            </a:lvl2pPr>
            <a:lvl3pPr algn="l" defTabSz="1042988" rtl="0" eaLnBrk="0" fontAlgn="base" hangingPunct="0">
              <a:spcBef>
                <a:spcPct val="0"/>
              </a:spcBef>
              <a:spcAft>
                <a:spcPct val="0"/>
              </a:spcAft>
              <a:defRPr sz="2400" b="1">
                <a:solidFill>
                  <a:schemeClr val="tx1"/>
                </a:solidFill>
                <a:latin typeface="Arial" charset="0"/>
                <a:cs typeface="Arial" charset="0"/>
              </a:defRPr>
            </a:lvl3pPr>
            <a:lvl4pPr algn="l" defTabSz="1042988" rtl="0" eaLnBrk="0" fontAlgn="base" hangingPunct="0">
              <a:spcBef>
                <a:spcPct val="0"/>
              </a:spcBef>
              <a:spcAft>
                <a:spcPct val="0"/>
              </a:spcAft>
              <a:defRPr sz="2400" b="1">
                <a:solidFill>
                  <a:schemeClr val="tx1"/>
                </a:solidFill>
                <a:latin typeface="Arial" charset="0"/>
                <a:cs typeface="Arial" charset="0"/>
              </a:defRPr>
            </a:lvl4pPr>
            <a:lvl5pPr algn="l" defTabSz="1042988" rtl="0" eaLnBrk="0" fontAlgn="base" hangingPunct="0">
              <a:spcBef>
                <a:spcPct val="0"/>
              </a:spcBef>
              <a:spcAft>
                <a:spcPct val="0"/>
              </a:spcAft>
              <a:defRPr sz="2400" b="1">
                <a:solidFill>
                  <a:schemeClr val="tx1"/>
                </a:solidFill>
                <a:latin typeface="Arial" charset="0"/>
                <a:cs typeface="Arial" charset="0"/>
              </a:defRPr>
            </a:lvl5pPr>
            <a:lvl6pPr marL="457200" algn="l" defTabSz="1042988" rtl="0" fontAlgn="base">
              <a:spcBef>
                <a:spcPct val="0"/>
              </a:spcBef>
              <a:spcAft>
                <a:spcPct val="0"/>
              </a:spcAft>
              <a:defRPr sz="1600">
                <a:solidFill>
                  <a:schemeClr val="tx1"/>
                </a:solidFill>
                <a:latin typeface="Arial" charset="0"/>
                <a:cs typeface="Arial" charset="0"/>
              </a:defRPr>
            </a:lvl6pPr>
            <a:lvl7pPr marL="914400" algn="l" defTabSz="1042988" rtl="0" fontAlgn="base">
              <a:spcBef>
                <a:spcPct val="0"/>
              </a:spcBef>
              <a:spcAft>
                <a:spcPct val="0"/>
              </a:spcAft>
              <a:defRPr sz="1600">
                <a:solidFill>
                  <a:schemeClr val="tx1"/>
                </a:solidFill>
                <a:latin typeface="Arial" charset="0"/>
                <a:cs typeface="Arial" charset="0"/>
              </a:defRPr>
            </a:lvl7pPr>
            <a:lvl8pPr marL="1371600" algn="l" defTabSz="1042988" rtl="0" fontAlgn="base">
              <a:spcBef>
                <a:spcPct val="0"/>
              </a:spcBef>
              <a:spcAft>
                <a:spcPct val="0"/>
              </a:spcAft>
              <a:defRPr sz="1600">
                <a:solidFill>
                  <a:schemeClr val="tx1"/>
                </a:solidFill>
                <a:latin typeface="Arial" charset="0"/>
                <a:cs typeface="Arial" charset="0"/>
              </a:defRPr>
            </a:lvl8pPr>
            <a:lvl9pPr marL="1828800" algn="l" defTabSz="1042988" rtl="0" fontAlgn="base">
              <a:spcBef>
                <a:spcPct val="0"/>
              </a:spcBef>
              <a:spcAft>
                <a:spcPct val="0"/>
              </a:spcAft>
              <a:defRPr sz="1600">
                <a:solidFill>
                  <a:schemeClr val="tx1"/>
                </a:solidFill>
                <a:latin typeface="Arial" charset="0"/>
                <a:cs typeface="Arial" charset="0"/>
              </a:defRPr>
            </a:lvl9pPr>
          </a:lstStyle>
          <a:p>
            <a:pPr defTabSz="914400" eaLnBrk="1" fontAlgn="auto" hangingPunct="1">
              <a:lnSpc>
                <a:spcPct val="90000"/>
              </a:lnSpc>
              <a:spcAft>
                <a:spcPts val="600"/>
              </a:spcAft>
              <a:defRPr/>
            </a:pPr>
            <a:r>
              <a:rPr lang="en-US" sz="4000" dirty="0">
                <a:solidFill>
                  <a:srgbClr val="FFFFFF"/>
                </a:solidFill>
                <a:latin typeface="Cambria" panose="02040503050406030204" pitchFamily="18" charset="0"/>
                <a:ea typeface="Cambria" panose="02040503050406030204" pitchFamily="18" charset="0"/>
              </a:rPr>
              <a:t>PAYMENT AND CREDIT SYSTEM</a:t>
            </a:r>
            <a:endParaRPr lang="en-US" sz="4000" kern="1200" dirty="0">
              <a:solidFill>
                <a:srgbClr val="FFFFFF"/>
              </a:solidFill>
              <a:latin typeface="Cambria" panose="02040503050406030204" pitchFamily="18" charset="0"/>
              <a:ea typeface="Cambria" panose="02040503050406030204" pitchFamily="18" charset="0"/>
            </a:endParaRPr>
          </a:p>
        </p:txBody>
      </p:sp>
      <p:pic>
        <p:nvPicPr>
          <p:cNvPr id="7" name="Picture 6" descr="Logo&#10;&#10;Description automatically generated">
            <a:extLst>
              <a:ext uri="{FF2B5EF4-FFF2-40B4-BE49-F238E27FC236}">
                <a16:creationId xmlns:a16="http://schemas.microsoft.com/office/drawing/2014/main" id="{6AD22E70-DC90-5B1E-D871-9493F70F6C08}"/>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9023847" y="461107"/>
            <a:ext cx="2462400" cy="668525"/>
          </a:xfrm>
          <a:prstGeom prst="rect">
            <a:avLst/>
          </a:prstGeom>
          <a:noFill/>
          <a:ln>
            <a:noFill/>
          </a:ln>
        </p:spPr>
      </p:pic>
      <p:sp>
        <p:nvSpPr>
          <p:cNvPr id="2" name="Slide Number Placeholder 1">
            <a:extLst>
              <a:ext uri="{FF2B5EF4-FFF2-40B4-BE49-F238E27FC236}">
                <a16:creationId xmlns:a16="http://schemas.microsoft.com/office/drawing/2014/main" id="{D60A3395-3AB0-B678-3F59-D21AAA88D7AF}"/>
              </a:ext>
            </a:extLst>
          </p:cNvPr>
          <p:cNvSpPr>
            <a:spLocks noGrp="1"/>
          </p:cNvSpPr>
          <p:nvPr>
            <p:ph type="sldNum" sz="quarter" idx="12"/>
          </p:nvPr>
        </p:nvSpPr>
        <p:spPr/>
        <p:txBody>
          <a:bodyPr/>
          <a:lstStyle/>
          <a:p>
            <a:fld id="{87ACCF74-76A4-4B7C-AE89-E33624618226}" type="slidenum">
              <a:rPr lang="en-IN" smtClean="0"/>
              <a:t>13</a:t>
            </a:fld>
            <a:endParaRPr lang="en-IN" dirty="0"/>
          </a:p>
        </p:txBody>
      </p:sp>
      <p:sp>
        <p:nvSpPr>
          <p:cNvPr id="10" name="Content Placeholder 2">
            <a:extLst>
              <a:ext uri="{FF2B5EF4-FFF2-40B4-BE49-F238E27FC236}">
                <a16:creationId xmlns:a16="http://schemas.microsoft.com/office/drawing/2014/main" id="{10EE8811-E885-E730-DDC3-B818BF4A018E}"/>
              </a:ext>
            </a:extLst>
          </p:cNvPr>
          <p:cNvSpPr>
            <a:spLocks noGrp="1"/>
          </p:cNvSpPr>
          <p:nvPr>
            <p:ph idx="1"/>
          </p:nvPr>
        </p:nvSpPr>
        <p:spPr>
          <a:xfrm>
            <a:off x="5670524" y="1623250"/>
            <a:ext cx="6510335" cy="5195550"/>
          </a:xfrm>
        </p:spPr>
        <p:txBody>
          <a:bodyPr anchor="ctr">
            <a:normAutofit/>
          </a:bodyPr>
          <a:lstStyle/>
          <a:p>
            <a:pPr marL="417542" indent="-342900">
              <a:defRPr/>
            </a:pPr>
            <a:r>
              <a:rPr lang="en-US" sz="2000" dirty="0">
                <a:latin typeface="Cambria" panose="02040503050406030204" pitchFamily="18" charset="0"/>
              </a:rPr>
              <a:t>Three credit packages</a:t>
            </a:r>
          </a:p>
          <a:p>
            <a:pPr marL="417542" indent="-342900">
              <a:defRPr/>
            </a:pPr>
            <a:r>
              <a:rPr lang="en-US" sz="2000" dirty="0">
                <a:latin typeface="Cambria" panose="02040503050406030204" pitchFamily="18" charset="0"/>
              </a:rPr>
              <a:t>Server-side price-to-credit mapping in Edge Function prevents client-side price manipulation</a:t>
            </a:r>
          </a:p>
          <a:p>
            <a:pPr marL="417542" indent="-342900">
              <a:defRPr/>
            </a:pPr>
            <a:r>
              <a:rPr lang="en-US" sz="2000" dirty="0">
                <a:latin typeface="Cambria" panose="02040503050406030204" pitchFamily="18" charset="0"/>
              </a:rPr>
              <a:t>Client path: </a:t>
            </a:r>
            <a:r>
              <a:rPr lang="en-US" sz="2000" dirty="0" err="1">
                <a:latin typeface="Cambria" panose="02040503050406030204" pitchFamily="18" charset="0"/>
              </a:rPr>
              <a:t>Razorpay</a:t>
            </a:r>
            <a:r>
              <a:rPr lang="en-US" sz="2000" dirty="0">
                <a:latin typeface="Cambria" panose="02040503050406030204" pitchFamily="18" charset="0"/>
              </a:rPr>
              <a:t> Checkout → verify-payment Edge Function → HMAC-SHA256 signature check → add credits</a:t>
            </a:r>
          </a:p>
          <a:p>
            <a:pPr marL="417542" indent="-342900">
              <a:defRPr/>
            </a:pPr>
            <a:r>
              <a:rPr lang="en-US" sz="2000" dirty="0">
                <a:latin typeface="Cambria" panose="02040503050406030204" pitchFamily="18" charset="0"/>
              </a:rPr>
              <a:t>Both paths are idempotent: </a:t>
            </a:r>
            <a:r>
              <a:rPr lang="en-US" sz="2000" dirty="0" err="1">
                <a:latin typeface="Cambria" panose="02040503050406030204" pitchFamily="18" charset="0"/>
              </a:rPr>
              <a:t>credits_added</a:t>
            </a:r>
            <a:r>
              <a:rPr lang="en-US" sz="2000" dirty="0">
                <a:latin typeface="Cambria" panose="02040503050406030204" pitchFamily="18" charset="0"/>
              </a:rPr>
              <a:t> flag per payment prevents double-crediting</a:t>
            </a:r>
          </a:p>
          <a:p>
            <a:pPr marL="417542" indent="-342900">
              <a:defRPr/>
            </a:pPr>
            <a:r>
              <a:rPr lang="en-US" sz="2000" dirty="0">
                <a:latin typeface="Cambria" panose="02040503050406030204" pitchFamily="18" charset="0"/>
              </a:rPr>
              <a:t>Fractional credit deduction based on actual call duration</a:t>
            </a:r>
          </a:p>
        </p:txBody>
      </p:sp>
      <p:pic>
        <p:nvPicPr>
          <p:cNvPr id="4" name="Picture 3">
            <a:extLst>
              <a:ext uri="{FF2B5EF4-FFF2-40B4-BE49-F238E27FC236}">
                <a16:creationId xmlns:a16="http://schemas.microsoft.com/office/drawing/2014/main" id="{EE6EC059-94EA-856D-BAB0-FA163D9991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807" y="1660256"/>
            <a:ext cx="5648242" cy="5223562"/>
          </a:xfrm>
          <a:prstGeom prst="rect">
            <a:avLst/>
          </a:prstGeom>
        </p:spPr>
      </p:pic>
    </p:spTree>
    <p:extLst>
      <p:ext uri="{BB962C8B-B14F-4D97-AF65-F5344CB8AC3E}">
        <p14:creationId xmlns:p14="http://schemas.microsoft.com/office/powerpoint/2010/main" val="3078069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3D2C54-4E73-E126-8CC6-FA15C9C02C8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A9572D9-852A-E54C-AD42-168B5B2798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7F35EBA-CBD0-588F-979D-DE0262737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670B587E-D198-2870-3E50-94BF4CE030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F38ACCF-894E-98D7-27CA-2D9A8B083F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A8F2AC9-96D0-7C00-9C8E-5E02E9D11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0A9EBEDB-C2C7-278D-5F67-954E02F80D65}"/>
              </a:ext>
            </a:extLst>
          </p:cNvPr>
          <p:cNvSpPr txBox="1">
            <a:spLocks/>
          </p:cNvSpPr>
          <p:nvPr/>
        </p:nvSpPr>
        <p:spPr bwMode="gray">
          <a:xfrm>
            <a:off x="460502" y="318061"/>
            <a:ext cx="7857597" cy="9546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lgn="l" defTabSz="1042988" rtl="0" eaLnBrk="0" fontAlgn="base" hangingPunct="0">
              <a:spcBef>
                <a:spcPct val="0"/>
              </a:spcBef>
              <a:spcAft>
                <a:spcPct val="0"/>
              </a:spcAft>
              <a:defRPr sz="2400" b="1">
                <a:solidFill>
                  <a:schemeClr val="tx1"/>
                </a:solidFill>
                <a:latin typeface="+mj-lt"/>
                <a:ea typeface="+mj-ea"/>
                <a:cs typeface="+mj-cs"/>
              </a:defRPr>
            </a:lvl1pPr>
            <a:lvl2pPr algn="l" defTabSz="1042988" rtl="0" eaLnBrk="0" fontAlgn="base" hangingPunct="0">
              <a:spcBef>
                <a:spcPct val="0"/>
              </a:spcBef>
              <a:spcAft>
                <a:spcPct val="0"/>
              </a:spcAft>
              <a:defRPr sz="2400" b="1">
                <a:solidFill>
                  <a:schemeClr val="tx1"/>
                </a:solidFill>
                <a:latin typeface="Arial" charset="0"/>
                <a:cs typeface="Arial" charset="0"/>
              </a:defRPr>
            </a:lvl2pPr>
            <a:lvl3pPr algn="l" defTabSz="1042988" rtl="0" eaLnBrk="0" fontAlgn="base" hangingPunct="0">
              <a:spcBef>
                <a:spcPct val="0"/>
              </a:spcBef>
              <a:spcAft>
                <a:spcPct val="0"/>
              </a:spcAft>
              <a:defRPr sz="2400" b="1">
                <a:solidFill>
                  <a:schemeClr val="tx1"/>
                </a:solidFill>
                <a:latin typeface="Arial" charset="0"/>
                <a:cs typeface="Arial" charset="0"/>
              </a:defRPr>
            </a:lvl3pPr>
            <a:lvl4pPr algn="l" defTabSz="1042988" rtl="0" eaLnBrk="0" fontAlgn="base" hangingPunct="0">
              <a:spcBef>
                <a:spcPct val="0"/>
              </a:spcBef>
              <a:spcAft>
                <a:spcPct val="0"/>
              </a:spcAft>
              <a:defRPr sz="2400" b="1">
                <a:solidFill>
                  <a:schemeClr val="tx1"/>
                </a:solidFill>
                <a:latin typeface="Arial" charset="0"/>
                <a:cs typeface="Arial" charset="0"/>
              </a:defRPr>
            </a:lvl4pPr>
            <a:lvl5pPr algn="l" defTabSz="1042988" rtl="0" eaLnBrk="0" fontAlgn="base" hangingPunct="0">
              <a:spcBef>
                <a:spcPct val="0"/>
              </a:spcBef>
              <a:spcAft>
                <a:spcPct val="0"/>
              </a:spcAft>
              <a:defRPr sz="2400" b="1">
                <a:solidFill>
                  <a:schemeClr val="tx1"/>
                </a:solidFill>
                <a:latin typeface="Arial" charset="0"/>
                <a:cs typeface="Arial" charset="0"/>
              </a:defRPr>
            </a:lvl5pPr>
            <a:lvl6pPr marL="457200" algn="l" defTabSz="1042988" rtl="0" fontAlgn="base">
              <a:spcBef>
                <a:spcPct val="0"/>
              </a:spcBef>
              <a:spcAft>
                <a:spcPct val="0"/>
              </a:spcAft>
              <a:defRPr sz="1600">
                <a:solidFill>
                  <a:schemeClr val="tx1"/>
                </a:solidFill>
                <a:latin typeface="Arial" charset="0"/>
                <a:cs typeface="Arial" charset="0"/>
              </a:defRPr>
            </a:lvl6pPr>
            <a:lvl7pPr marL="914400" algn="l" defTabSz="1042988" rtl="0" fontAlgn="base">
              <a:spcBef>
                <a:spcPct val="0"/>
              </a:spcBef>
              <a:spcAft>
                <a:spcPct val="0"/>
              </a:spcAft>
              <a:defRPr sz="1600">
                <a:solidFill>
                  <a:schemeClr val="tx1"/>
                </a:solidFill>
                <a:latin typeface="Arial" charset="0"/>
                <a:cs typeface="Arial" charset="0"/>
              </a:defRPr>
            </a:lvl7pPr>
            <a:lvl8pPr marL="1371600" algn="l" defTabSz="1042988" rtl="0" fontAlgn="base">
              <a:spcBef>
                <a:spcPct val="0"/>
              </a:spcBef>
              <a:spcAft>
                <a:spcPct val="0"/>
              </a:spcAft>
              <a:defRPr sz="1600">
                <a:solidFill>
                  <a:schemeClr val="tx1"/>
                </a:solidFill>
                <a:latin typeface="Arial" charset="0"/>
                <a:cs typeface="Arial" charset="0"/>
              </a:defRPr>
            </a:lvl8pPr>
            <a:lvl9pPr marL="1828800" algn="l" defTabSz="1042988" rtl="0" fontAlgn="base">
              <a:spcBef>
                <a:spcPct val="0"/>
              </a:spcBef>
              <a:spcAft>
                <a:spcPct val="0"/>
              </a:spcAft>
              <a:defRPr sz="1600">
                <a:solidFill>
                  <a:schemeClr val="tx1"/>
                </a:solidFill>
                <a:latin typeface="Arial" charset="0"/>
                <a:cs typeface="Arial" charset="0"/>
              </a:defRPr>
            </a:lvl9pPr>
          </a:lstStyle>
          <a:p>
            <a:pPr defTabSz="914400" eaLnBrk="1" fontAlgn="auto" hangingPunct="1">
              <a:lnSpc>
                <a:spcPct val="90000"/>
              </a:lnSpc>
              <a:spcAft>
                <a:spcPts val="600"/>
              </a:spcAft>
              <a:defRPr/>
            </a:pPr>
            <a:r>
              <a:rPr lang="en-US" sz="4000" dirty="0">
                <a:solidFill>
                  <a:srgbClr val="FFFFFF"/>
                </a:solidFill>
                <a:latin typeface="Cambria" panose="02040503050406030204" pitchFamily="18" charset="0"/>
                <a:ea typeface="Cambria" panose="02040503050406030204" pitchFamily="18" charset="0"/>
              </a:rPr>
              <a:t>DATABASE SCHEMA</a:t>
            </a:r>
            <a:endParaRPr lang="en-US" sz="4000" kern="1200" dirty="0">
              <a:solidFill>
                <a:srgbClr val="FFFFFF"/>
              </a:solidFill>
              <a:latin typeface="Cambria" panose="02040503050406030204" pitchFamily="18" charset="0"/>
              <a:ea typeface="Cambria" panose="02040503050406030204" pitchFamily="18" charset="0"/>
            </a:endParaRPr>
          </a:p>
        </p:txBody>
      </p:sp>
      <p:pic>
        <p:nvPicPr>
          <p:cNvPr id="7" name="Picture 6" descr="Logo&#10;&#10;Description automatically generated">
            <a:extLst>
              <a:ext uri="{FF2B5EF4-FFF2-40B4-BE49-F238E27FC236}">
                <a16:creationId xmlns:a16="http://schemas.microsoft.com/office/drawing/2014/main" id="{91B987BD-FA97-5B59-9043-B8F0D468DEAE}"/>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9023847" y="461107"/>
            <a:ext cx="2462400" cy="668525"/>
          </a:xfrm>
          <a:prstGeom prst="rect">
            <a:avLst/>
          </a:prstGeom>
          <a:noFill/>
          <a:ln>
            <a:noFill/>
          </a:ln>
        </p:spPr>
      </p:pic>
      <p:sp>
        <p:nvSpPr>
          <p:cNvPr id="2" name="Slide Number Placeholder 1">
            <a:extLst>
              <a:ext uri="{FF2B5EF4-FFF2-40B4-BE49-F238E27FC236}">
                <a16:creationId xmlns:a16="http://schemas.microsoft.com/office/drawing/2014/main" id="{1CDF2F21-9AED-2E51-E5DE-84049F7AD91D}"/>
              </a:ext>
            </a:extLst>
          </p:cNvPr>
          <p:cNvSpPr>
            <a:spLocks noGrp="1"/>
          </p:cNvSpPr>
          <p:nvPr>
            <p:ph type="sldNum" sz="quarter" idx="12"/>
          </p:nvPr>
        </p:nvSpPr>
        <p:spPr/>
        <p:txBody>
          <a:bodyPr/>
          <a:lstStyle/>
          <a:p>
            <a:fld id="{87ACCF74-76A4-4B7C-AE89-E33624618226}" type="slidenum">
              <a:rPr lang="en-IN" smtClean="0"/>
              <a:t>14</a:t>
            </a:fld>
            <a:endParaRPr lang="en-IN" dirty="0"/>
          </a:p>
        </p:txBody>
      </p:sp>
      <p:pic>
        <p:nvPicPr>
          <p:cNvPr id="4" name="Picture 3">
            <a:extLst>
              <a:ext uri="{FF2B5EF4-FFF2-40B4-BE49-F238E27FC236}">
                <a16:creationId xmlns:a16="http://schemas.microsoft.com/office/drawing/2014/main" id="{1B904202-1CC5-DA01-F06E-244C743A77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74660"/>
            <a:ext cx="5760912" cy="5106112"/>
          </a:xfrm>
          <a:prstGeom prst="rect">
            <a:avLst/>
          </a:prstGeom>
        </p:spPr>
      </p:pic>
      <p:sp>
        <p:nvSpPr>
          <p:cNvPr id="10" name="Content Placeholder 2">
            <a:extLst>
              <a:ext uri="{FF2B5EF4-FFF2-40B4-BE49-F238E27FC236}">
                <a16:creationId xmlns:a16="http://schemas.microsoft.com/office/drawing/2014/main" id="{EE0CB328-EA11-C5B1-1F10-774EA83B0596}"/>
              </a:ext>
            </a:extLst>
          </p:cNvPr>
          <p:cNvSpPr>
            <a:spLocks noGrp="1"/>
          </p:cNvSpPr>
          <p:nvPr>
            <p:ph idx="1"/>
          </p:nvPr>
        </p:nvSpPr>
        <p:spPr>
          <a:xfrm>
            <a:off x="5760912" y="1370967"/>
            <a:ext cx="6321281" cy="5546047"/>
          </a:xfrm>
        </p:spPr>
        <p:txBody>
          <a:bodyPr anchor="ctr">
            <a:normAutofit/>
          </a:bodyPr>
          <a:lstStyle/>
          <a:p>
            <a:pPr marL="417542" indent="-342900">
              <a:defRPr/>
            </a:pPr>
            <a:r>
              <a:rPr lang="en-US" sz="2000" b="1" dirty="0" err="1">
                <a:latin typeface="Cambria" panose="02040503050406030204" pitchFamily="18" charset="0"/>
              </a:rPr>
              <a:t>auth.users</a:t>
            </a:r>
            <a:r>
              <a:rPr lang="en-US" sz="2000" dirty="0">
                <a:latin typeface="Cambria" panose="02040503050406030204" pitchFamily="18" charset="0"/>
              </a:rPr>
              <a:t>: </a:t>
            </a:r>
            <a:r>
              <a:rPr lang="en-US" sz="2000" dirty="0" err="1">
                <a:latin typeface="Cambria" panose="02040503050406030204" pitchFamily="18" charset="0"/>
              </a:rPr>
              <a:t>Supabase</a:t>
            </a:r>
            <a:r>
              <a:rPr lang="en-US" sz="2000" dirty="0">
                <a:latin typeface="Cambria" panose="02040503050406030204" pitchFamily="18" charset="0"/>
              </a:rPr>
              <a:t>-managed authentication (email/password + Google OAuth)</a:t>
            </a:r>
          </a:p>
          <a:p>
            <a:pPr marL="417542" indent="-342900">
              <a:defRPr/>
            </a:pPr>
            <a:r>
              <a:rPr lang="en-US" sz="2000" b="1" dirty="0" err="1">
                <a:latin typeface="Cambria" panose="02040503050406030204" pitchFamily="18" charset="0"/>
              </a:rPr>
              <a:t>user_credits</a:t>
            </a:r>
            <a:r>
              <a:rPr lang="en-US" sz="2000" dirty="0">
                <a:latin typeface="Cambria" panose="02040503050406030204" pitchFamily="18" charset="0"/>
              </a:rPr>
              <a:t>: Credit balance stored as numeric(10,2)</a:t>
            </a:r>
          </a:p>
          <a:p>
            <a:pPr marL="417542" indent="-342900">
              <a:defRPr/>
            </a:pPr>
            <a:r>
              <a:rPr lang="en-US" sz="2000" b="1" dirty="0" err="1">
                <a:latin typeface="Cambria" panose="02040503050406030204" pitchFamily="18" charset="0"/>
              </a:rPr>
              <a:t>user_pitches</a:t>
            </a:r>
            <a:r>
              <a:rPr lang="en-US" sz="2000" dirty="0">
                <a:latin typeface="Cambria" panose="02040503050406030204" pitchFamily="18" charset="0"/>
              </a:rPr>
              <a:t>: Session data including transcript, structured JSON assessment, recording URL, duration</a:t>
            </a:r>
          </a:p>
          <a:p>
            <a:pPr marL="417542" indent="-342900">
              <a:defRPr/>
            </a:pPr>
            <a:r>
              <a:rPr lang="en-US" sz="2000" b="1" dirty="0">
                <a:latin typeface="Cambria" panose="02040503050406030204" pitchFamily="18" charset="0"/>
              </a:rPr>
              <a:t>payments</a:t>
            </a:r>
            <a:r>
              <a:rPr lang="en-US" sz="2000" dirty="0">
                <a:latin typeface="Cambria" panose="02040503050406030204" pitchFamily="18" charset="0"/>
              </a:rPr>
              <a:t> — </a:t>
            </a:r>
            <a:r>
              <a:rPr lang="en-US" sz="2000" dirty="0" err="1">
                <a:latin typeface="Cambria" panose="02040503050406030204" pitchFamily="18" charset="0"/>
              </a:rPr>
              <a:t>Razorpay</a:t>
            </a:r>
            <a:r>
              <a:rPr lang="en-US" sz="2000" dirty="0">
                <a:latin typeface="Cambria" panose="02040503050406030204" pitchFamily="18" charset="0"/>
              </a:rPr>
              <a:t> order tracking with </a:t>
            </a:r>
            <a:r>
              <a:rPr lang="en-US" sz="2000" dirty="0" err="1">
                <a:latin typeface="Cambria" panose="02040503050406030204" pitchFamily="18" charset="0"/>
              </a:rPr>
              <a:t>is_verified</a:t>
            </a:r>
            <a:r>
              <a:rPr lang="en-US" sz="2000" dirty="0">
                <a:latin typeface="Cambria" panose="02040503050406030204" pitchFamily="18" charset="0"/>
              </a:rPr>
              <a:t> and </a:t>
            </a:r>
            <a:r>
              <a:rPr lang="en-US" sz="2000" dirty="0" err="1">
                <a:latin typeface="Cambria" panose="02040503050406030204" pitchFamily="18" charset="0"/>
              </a:rPr>
              <a:t>credits_added</a:t>
            </a:r>
            <a:r>
              <a:rPr lang="en-US" sz="2000" dirty="0">
                <a:latin typeface="Cambria" panose="02040503050406030204" pitchFamily="18" charset="0"/>
              </a:rPr>
              <a:t> flags for idempotency</a:t>
            </a:r>
          </a:p>
          <a:p>
            <a:pPr marL="417542" indent="-342900">
              <a:defRPr/>
            </a:pPr>
            <a:r>
              <a:rPr lang="en-US" sz="2000" b="1" dirty="0">
                <a:latin typeface="Cambria" panose="02040503050406030204" pitchFamily="18" charset="0"/>
              </a:rPr>
              <a:t>ideas</a:t>
            </a:r>
            <a:r>
              <a:rPr lang="en-US" sz="2000" dirty="0">
                <a:latin typeface="Cambria" panose="02040503050406030204" pitchFamily="18" charset="0"/>
              </a:rPr>
              <a:t> — Founder's startup ideas for grouping sessions and enabling context carry-forward</a:t>
            </a:r>
          </a:p>
        </p:txBody>
      </p:sp>
    </p:spTree>
    <p:extLst>
      <p:ext uri="{BB962C8B-B14F-4D97-AF65-F5344CB8AC3E}">
        <p14:creationId xmlns:p14="http://schemas.microsoft.com/office/powerpoint/2010/main" val="3675905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81CF67-C05A-7CBA-B5DA-B630E499900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063C07F-10BF-E9A7-607E-27A044F2F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CC56576-156E-C954-C922-45AE4AF9B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A7C13BB-FC73-1003-2522-216B2635B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3C4ADDA-8F63-074C-FA2F-F19E91A7E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7193E236-C94B-D5BC-A4DB-DA71182E8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48E65E47-2449-9FA7-70E4-A15397E7CC2C}"/>
              </a:ext>
            </a:extLst>
          </p:cNvPr>
          <p:cNvSpPr txBox="1">
            <a:spLocks/>
          </p:cNvSpPr>
          <p:nvPr/>
        </p:nvSpPr>
        <p:spPr bwMode="gray">
          <a:xfrm>
            <a:off x="460502" y="276286"/>
            <a:ext cx="7857597" cy="9546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lgn="l" defTabSz="1042988" rtl="0" eaLnBrk="0" fontAlgn="base" hangingPunct="0">
              <a:spcBef>
                <a:spcPct val="0"/>
              </a:spcBef>
              <a:spcAft>
                <a:spcPct val="0"/>
              </a:spcAft>
              <a:defRPr sz="2400" b="1">
                <a:solidFill>
                  <a:schemeClr val="tx1"/>
                </a:solidFill>
                <a:latin typeface="+mj-lt"/>
                <a:ea typeface="+mj-ea"/>
                <a:cs typeface="+mj-cs"/>
              </a:defRPr>
            </a:lvl1pPr>
            <a:lvl2pPr algn="l" defTabSz="1042988" rtl="0" eaLnBrk="0" fontAlgn="base" hangingPunct="0">
              <a:spcBef>
                <a:spcPct val="0"/>
              </a:spcBef>
              <a:spcAft>
                <a:spcPct val="0"/>
              </a:spcAft>
              <a:defRPr sz="2400" b="1">
                <a:solidFill>
                  <a:schemeClr val="tx1"/>
                </a:solidFill>
                <a:latin typeface="Arial" charset="0"/>
                <a:cs typeface="Arial" charset="0"/>
              </a:defRPr>
            </a:lvl2pPr>
            <a:lvl3pPr algn="l" defTabSz="1042988" rtl="0" eaLnBrk="0" fontAlgn="base" hangingPunct="0">
              <a:spcBef>
                <a:spcPct val="0"/>
              </a:spcBef>
              <a:spcAft>
                <a:spcPct val="0"/>
              </a:spcAft>
              <a:defRPr sz="2400" b="1">
                <a:solidFill>
                  <a:schemeClr val="tx1"/>
                </a:solidFill>
                <a:latin typeface="Arial" charset="0"/>
                <a:cs typeface="Arial" charset="0"/>
              </a:defRPr>
            </a:lvl3pPr>
            <a:lvl4pPr algn="l" defTabSz="1042988" rtl="0" eaLnBrk="0" fontAlgn="base" hangingPunct="0">
              <a:spcBef>
                <a:spcPct val="0"/>
              </a:spcBef>
              <a:spcAft>
                <a:spcPct val="0"/>
              </a:spcAft>
              <a:defRPr sz="2400" b="1">
                <a:solidFill>
                  <a:schemeClr val="tx1"/>
                </a:solidFill>
                <a:latin typeface="Arial" charset="0"/>
                <a:cs typeface="Arial" charset="0"/>
              </a:defRPr>
            </a:lvl4pPr>
            <a:lvl5pPr algn="l" defTabSz="1042988" rtl="0" eaLnBrk="0" fontAlgn="base" hangingPunct="0">
              <a:spcBef>
                <a:spcPct val="0"/>
              </a:spcBef>
              <a:spcAft>
                <a:spcPct val="0"/>
              </a:spcAft>
              <a:defRPr sz="2400" b="1">
                <a:solidFill>
                  <a:schemeClr val="tx1"/>
                </a:solidFill>
                <a:latin typeface="Arial" charset="0"/>
                <a:cs typeface="Arial" charset="0"/>
              </a:defRPr>
            </a:lvl5pPr>
            <a:lvl6pPr marL="457200" algn="l" defTabSz="1042988" rtl="0" fontAlgn="base">
              <a:spcBef>
                <a:spcPct val="0"/>
              </a:spcBef>
              <a:spcAft>
                <a:spcPct val="0"/>
              </a:spcAft>
              <a:defRPr sz="1600">
                <a:solidFill>
                  <a:schemeClr val="tx1"/>
                </a:solidFill>
                <a:latin typeface="Arial" charset="0"/>
                <a:cs typeface="Arial" charset="0"/>
              </a:defRPr>
            </a:lvl6pPr>
            <a:lvl7pPr marL="914400" algn="l" defTabSz="1042988" rtl="0" fontAlgn="base">
              <a:spcBef>
                <a:spcPct val="0"/>
              </a:spcBef>
              <a:spcAft>
                <a:spcPct val="0"/>
              </a:spcAft>
              <a:defRPr sz="1600">
                <a:solidFill>
                  <a:schemeClr val="tx1"/>
                </a:solidFill>
                <a:latin typeface="Arial" charset="0"/>
                <a:cs typeface="Arial" charset="0"/>
              </a:defRPr>
            </a:lvl7pPr>
            <a:lvl8pPr marL="1371600" algn="l" defTabSz="1042988" rtl="0" fontAlgn="base">
              <a:spcBef>
                <a:spcPct val="0"/>
              </a:spcBef>
              <a:spcAft>
                <a:spcPct val="0"/>
              </a:spcAft>
              <a:defRPr sz="1600">
                <a:solidFill>
                  <a:schemeClr val="tx1"/>
                </a:solidFill>
                <a:latin typeface="Arial" charset="0"/>
                <a:cs typeface="Arial" charset="0"/>
              </a:defRPr>
            </a:lvl8pPr>
            <a:lvl9pPr marL="1828800" algn="l" defTabSz="1042988" rtl="0" fontAlgn="base">
              <a:spcBef>
                <a:spcPct val="0"/>
              </a:spcBef>
              <a:spcAft>
                <a:spcPct val="0"/>
              </a:spcAft>
              <a:defRPr sz="1600">
                <a:solidFill>
                  <a:schemeClr val="tx1"/>
                </a:solidFill>
                <a:latin typeface="Arial" charset="0"/>
                <a:cs typeface="Arial" charset="0"/>
              </a:defRPr>
            </a:lvl9pPr>
          </a:lstStyle>
          <a:p>
            <a:pPr defTabSz="914400" eaLnBrk="1" fontAlgn="auto" hangingPunct="1">
              <a:lnSpc>
                <a:spcPct val="90000"/>
              </a:lnSpc>
              <a:spcAft>
                <a:spcPts val="600"/>
              </a:spcAft>
              <a:defRPr/>
            </a:pPr>
            <a:r>
              <a:rPr lang="en-US" sz="4000" dirty="0">
                <a:solidFill>
                  <a:srgbClr val="FFFFFF"/>
                </a:solidFill>
                <a:latin typeface="Cambria" panose="02040503050406030204" pitchFamily="18" charset="0"/>
                <a:ea typeface="Cambria" panose="02040503050406030204" pitchFamily="18" charset="0"/>
              </a:rPr>
              <a:t>TECHNOLOGY STACK</a:t>
            </a:r>
            <a:endParaRPr lang="en-US" sz="4000" kern="1200" dirty="0">
              <a:solidFill>
                <a:srgbClr val="FFFFFF"/>
              </a:solidFill>
              <a:latin typeface="Cambria" panose="02040503050406030204" pitchFamily="18" charset="0"/>
              <a:ea typeface="Cambria" panose="02040503050406030204" pitchFamily="18" charset="0"/>
            </a:endParaRPr>
          </a:p>
        </p:txBody>
      </p:sp>
      <p:pic>
        <p:nvPicPr>
          <p:cNvPr id="7" name="Picture 6" descr="Logo&#10;&#10;Description automatically generated">
            <a:extLst>
              <a:ext uri="{FF2B5EF4-FFF2-40B4-BE49-F238E27FC236}">
                <a16:creationId xmlns:a16="http://schemas.microsoft.com/office/drawing/2014/main" id="{92DF1A37-EF7E-58CF-8787-E78B1DE55A54}"/>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9023847" y="419332"/>
            <a:ext cx="2462400" cy="668525"/>
          </a:xfrm>
          <a:prstGeom prst="rect">
            <a:avLst/>
          </a:prstGeom>
          <a:noFill/>
          <a:ln>
            <a:noFill/>
          </a:ln>
        </p:spPr>
      </p:pic>
      <p:sp>
        <p:nvSpPr>
          <p:cNvPr id="2" name="Slide Number Placeholder 1">
            <a:extLst>
              <a:ext uri="{FF2B5EF4-FFF2-40B4-BE49-F238E27FC236}">
                <a16:creationId xmlns:a16="http://schemas.microsoft.com/office/drawing/2014/main" id="{542B282B-1F1C-2E9F-B148-68AFF98E3DC1}"/>
              </a:ext>
            </a:extLst>
          </p:cNvPr>
          <p:cNvSpPr>
            <a:spLocks noGrp="1"/>
          </p:cNvSpPr>
          <p:nvPr>
            <p:ph type="sldNum" sz="quarter" idx="12"/>
          </p:nvPr>
        </p:nvSpPr>
        <p:spPr/>
        <p:txBody>
          <a:bodyPr/>
          <a:lstStyle/>
          <a:p>
            <a:fld id="{87ACCF74-76A4-4B7C-AE89-E33624618226}" type="slidenum">
              <a:rPr lang="en-IN" smtClean="0"/>
              <a:t>15</a:t>
            </a:fld>
            <a:endParaRPr lang="en-IN" dirty="0"/>
          </a:p>
        </p:txBody>
      </p:sp>
      <p:graphicFrame>
        <p:nvGraphicFramePr>
          <p:cNvPr id="5" name="Table 4">
            <a:extLst>
              <a:ext uri="{FF2B5EF4-FFF2-40B4-BE49-F238E27FC236}">
                <a16:creationId xmlns:a16="http://schemas.microsoft.com/office/drawing/2014/main" id="{53A86EE4-EF45-6BBA-0EF8-F47094930050}"/>
              </a:ext>
            </a:extLst>
          </p:cNvPr>
          <p:cNvGraphicFramePr>
            <a:graphicFrameLocks noGrp="1"/>
          </p:cNvGraphicFramePr>
          <p:nvPr>
            <p:extLst>
              <p:ext uri="{D42A27DB-BD31-4B8C-83A1-F6EECF244321}">
                <p14:modId xmlns:p14="http://schemas.microsoft.com/office/powerpoint/2010/main" val="4223566843"/>
              </p:ext>
            </p:extLst>
          </p:nvPr>
        </p:nvGraphicFramePr>
        <p:xfrm>
          <a:off x="1474377" y="1881685"/>
          <a:ext cx="9243242" cy="4678680"/>
        </p:xfrm>
        <a:graphic>
          <a:graphicData uri="http://schemas.openxmlformats.org/drawingml/2006/table">
            <a:tbl>
              <a:tblPr firstRow="1" bandRow="1">
                <a:tableStyleId>{9D7B26C5-4107-4FEC-AEDC-1716B250A1EF}</a:tableStyleId>
              </a:tblPr>
              <a:tblGrid>
                <a:gridCol w="2353935">
                  <a:extLst>
                    <a:ext uri="{9D8B030D-6E8A-4147-A177-3AD203B41FA5}">
                      <a16:colId xmlns:a16="http://schemas.microsoft.com/office/drawing/2014/main" val="2385186939"/>
                    </a:ext>
                  </a:extLst>
                </a:gridCol>
                <a:gridCol w="2920654">
                  <a:extLst>
                    <a:ext uri="{9D8B030D-6E8A-4147-A177-3AD203B41FA5}">
                      <a16:colId xmlns:a16="http://schemas.microsoft.com/office/drawing/2014/main" val="3686962087"/>
                    </a:ext>
                  </a:extLst>
                </a:gridCol>
                <a:gridCol w="3968653">
                  <a:extLst>
                    <a:ext uri="{9D8B030D-6E8A-4147-A177-3AD203B41FA5}">
                      <a16:colId xmlns:a16="http://schemas.microsoft.com/office/drawing/2014/main" val="3334769596"/>
                    </a:ext>
                  </a:extLst>
                </a:gridCol>
              </a:tblGrid>
              <a:tr h="370840">
                <a:tc>
                  <a:txBody>
                    <a:bodyPr/>
                    <a:lstStyle/>
                    <a:p>
                      <a:pPr algn="ctr"/>
                      <a:r>
                        <a:rPr lang="en-US" dirty="0"/>
                        <a:t>Layer</a:t>
                      </a:r>
                      <a:endParaRPr lang="en-IN" dirty="0"/>
                    </a:p>
                  </a:txBody>
                  <a:tcPr anchor="ctr"/>
                </a:tc>
                <a:tc>
                  <a:txBody>
                    <a:bodyPr/>
                    <a:lstStyle/>
                    <a:p>
                      <a:pPr algn="ctr"/>
                      <a:r>
                        <a:rPr lang="en-US"/>
                        <a:t>Technology</a:t>
                      </a:r>
                      <a:endParaRPr lang="en-IN" dirty="0"/>
                    </a:p>
                  </a:txBody>
                  <a:tcPr anchor="ctr"/>
                </a:tc>
                <a:tc>
                  <a:txBody>
                    <a:bodyPr/>
                    <a:lstStyle/>
                    <a:p>
                      <a:pPr algn="ctr"/>
                      <a:r>
                        <a:rPr lang="en-US"/>
                        <a:t>Purpose</a:t>
                      </a:r>
                      <a:endParaRPr lang="en-IN" dirty="0"/>
                    </a:p>
                  </a:txBody>
                  <a:tcPr anchor="ctr"/>
                </a:tc>
                <a:extLst>
                  <a:ext uri="{0D108BD9-81ED-4DB2-BD59-A6C34878D82A}">
                    <a16:rowId xmlns:a16="http://schemas.microsoft.com/office/drawing/2014/main" val="2519665982"/>
                  </a:ext>
                </a:extLst>
              </a:tr>
              <a:tr h="370840">
                <a:tc>
                  <a:txBody>
                    <a:bodyPr/>
                    <a:lstStyle/>
                    <a:p>
                      <a:pPr algn="ctr"/>
                      <a:r>
                        <a:rPr lang="en-US"/>
                        <a:t>Frontend</a:t>
                      </a:r>
                      <a:endParaRPr lang="en-IN" dirty="0"/>
                    </a:p>
                  </a:txBody>
                  <a:tcPr anchor="ctr"/>
                </a:tc>
                <a:tc>
                  <a:txBody>
                    <a:bodyPr/>
                    <a:lstStyle/>
                    <a:p>
                      <a:pPr algn="ctr"/>
                      <a:r>
                        <a:rPr lang="en-IN" sz="1800" b="0" i="0" kern="1200" dirty="0">
                          <a:solidFill>
                            <a:schemeClr val="tx1"/>
                          </a:solidFill>
                          <a:effectLst/>
                          <a:latin typeface="+mn-lt"/>
                          <a:ea typeface="+mn-ea"/>
                          <a:cs typeface="+mn-cs"/>
                        </a:rPr>
                        <a:t>React 19 + Vite 7</a:t>
                      </a:r>
                      <a:endParaRPr lang="en-IN" dirty="0"/>
                    </a:p>
                  </a:txBody>
                  <a:tcPr anchor="ctr"/>
                </a:tc>
                <a:tc>
                  <a:txBody>
                    <a:bodyPr/>
                    <a:lstStyle/>
                    <a:p>
                      <a:pPr algn="ctr"/>
                      <a:r>
                        <a:rPr lang="en-US" dirty="0"/>
                        <a:t>Component-based SPA</a:t>
                      </a:r>
                      <a:endParaRPr lang="en-IN" dirty="0"/>
                    </a:p>
                  </a:txBody>
                  <a:tcPr anchor="ctr"/>
                </a:tc>
                <a:extLst>
                  <a:ext uri="{0D108BD9-81ED-4DB2-BD59-A6C34878D82A}">
                    <a16:rowId xmlns:a16="http://schemas.microsoft.com/office/drawing/2014/main" val="303619074"/>
                  </a:ext>
                </a:extLst>
              </a:tr>
              <a:tr h="370840">
                <a:tc>
                  <a:txBody>
                    <a:bodyPr/>
                    <a:lstStyle/>
                    <a:p>
                      <a:pPr algn="ctr"/>
                      <a:r>
                        <a:rPr lang="en-US"/>
                        <a:t>Styling</a:t>
                      </a:r>
                      <a:endParaRPr lang="en-IN" dirty="0"/>
                    </a:p>
                  </a:txBody>
                  <a:tcPr anchor="ctr"/>
                </a:tc>
                <a:tc>
                  <a:txBody>
                    <a:bodyPr/>
                    <a:lstStyle/>
                    <a:p>
                      <a:pPr algn="ctr">
                        <a:buNone/>
                      </a:pPr>
                      <a:r>
                        <a:rPr lang="en-US" dirty="0">
                          <a:effectLst/>
                        </a:rPr>
                        <a:t>Tailwind CSS</a:t>
                      </a:r>
                    </a:p>
                  </a:txBody>
                  <a:tcPr marL="19050" marR="19050" marT="19050" marB="19050" anchor="ctr"/>
                </a:tc>
                <a:tc>
                  <a:txBody>
                    <a:bodyPr/>
                    <a:lstStyle/>
                    <a:p>
                      <a:pPr algn="ctr"/>
                      <a:r>
                        <a:rPr lang="en-US" dirty="0"/>
                        <a:t>CSS Styling Standard</a:t>
                      </a:r>
                      <a:endParaRPr lang="en-IN" dirty="0"/>
                    </a:p>
                  </a:txBody>
                  <a:tcPr anchor="ctr"/>
                </a:tc>
                <a:extLst>
                  <a:ext uri="{0D108BD9-81ED-4DB2-BD59-A6C34878D82A}">
                    <a16:rowId xmlns:a16="http://schemas.microsoft.com/office/drawing/2014/main" val="2922879907"/>
                  </a:ext>
                </a:extLst>
              </a:tr>
              <a:tr h="370840">
                <a:tc>
                  <a:txBody>
                    <a:bodyPr/>
                    <a:lstStyle/>
                    <a:p>
                      <a:pPr algn="ctr"/>
                      <a:r>
                        <a:rPr lang="en-US" dirty="0"/>
                        <a:t>Charts</a:t>
                      </a:r>
                      <a:endParaRPr lang="en-IN" dirty="0"/>
                    </a:p>
                  </a:txBody>
                  <a:tcPr anchor="ctr"/>
                </a:tc>
                <a:tc>
                  <a:txBody>
                    <a:bodyPr/>
                    <a:lstStyle/>
                    <a:p>
                      <a:pPr algn="ctr"/>
                      <a:r>
                        <a:rPr lang="en-US" dirty="0"/>
                        <a:t>Recharts</a:t>
                      </a:r>
                      <a:endParaRPr lang="en-IN" dirty="0"/>
                    </a:p>
                  </a:txBody>
                  <a:tcPr anchor="ctr"/>
                </a:tc>
                <a:tc>
                  <a:txBody>
                    <a:bodyPr/>
                    <a:lstStyle/>
                    <a:p>
                      <a:pPr algn="ctr"/>
                      <a:r>
                        <a:rPr lang="en-US" dirty="0"/>
                        <a:t>Score trends, skill radar, pitch type distribution</a:t>
                      </a:r>
                      <a:endParaRPr lang="en-IN" dirty="0"/>
                    </a:p>
                  </a:txBody>
                  <a:tcPr anchor="ctr"/>
                </a:tc>
                <a:extLst>
                  <a:ext uri="{0D108BD9-81ED-4DB2-BD59-A6C34878D82A}">
                    <a16:rowId xmlns:a16="http://schemas.microsoft.com/office/drawing/2014/main" val="1954415594"/>
                  </a:ext>
                </a:extLst>
              </a:tr>
              <a:tr h="370840">
                <a:tc>
                  <a:txBody>
                    <a:bodyPr/>
                    <a:lstStyle/>
                    <a:p>
                      <a:pPr algn="ctr"/>
                      <a:r>
                        <a:rPr lang="en-US" dirty="0"/>
                        <a:t>Backend</a:t>
                      </a:r>
                      <a:endParaRPr lang="en-IN" dirty="0"/>
                    </a:p>
                  </a:txBody>
                  <a:tcPr anchor="ctr"/>
                </a:tc>
                <a:tc>
                  <a:txBody>
                    <a:bodyPr/>
                    <a:lstStyle/>
                    <a:p>
                      <a:pPr algn="ctr"/>
                      <a:r>
                        <a:rPr lang="en-US" dirty="0" err="1"/>
                        <a:t>Supabase</a:t>
                      </a:r>
                      <a:endParaRPr lang="en-IN" dirty="0"/>
                    </a:p>
                  </a:txBody>
                  <a:tcPr anchor="ctr"/>
                </a:tc>
                <a:tc>
                  <a:txBody>
                    <a:bodyPr/>
                    <a:lstStyle/>
                    <a:p>
                      <a:pPr algn="ctr"/>
                      <a:r>
                        <a:rPr lang="en-US" dirty="0"/>
                        <a:t>PostgreSQL, Auth, Edge Functions, Storage: full BaaS</a:t>
                      </a:r>
                      <a:endParaRPr lang="en-IN" dirty="0"/>
                    </a:p>
                  </a:txBody>
                  <a:tcPr anchor="ctr"/>
                </a:tc>
                <a:extLst>
                  <a:ext uri="{0D108BD9-81ED-4DB2-BD59-A6C34878D82A}">
                    <a16:rowId xmlns:a16="http://schemas.microsoft.com/office/drawing/2014/main" val="1882712269"/>
                  </a:ext>
                </a:extLst>
              </a:tr>
              <a:tr h="177690">
                <a:tc>
                  <a:txBody>
                    <a:bodyPr/>
                    <a:lstStyle/>
                    <a:p>
                      <a:pPr algn="ctr"/>
                      <a:r>
                        <a:rPr lang="en-US" dirty="0"/>
                        <a:t>Voice AI Agent</a:t>
                      </a:r>
                      <a:endParaRPr lang="en-IN" dirty="0"/>
                    </a:p>
                  </a:txBody>
                  <a:tcPr anchor="ctr"/>
                </a:tc>
                <a:tc>
                  <a:txBody>
                    <a:bodyPr/>
                    <a:lstStyle/>
                    <a:p>
                      <a:pPr algn="ctr"/>
                      <a:r>
                        <a:rPr lang="en-US" dirty="0"/>
                        <a:t>Vapi AI</a:t>
                      </a:r>
                      <a:endParaRPr lang="en-IN" dirty="0"/>
                    </a:p>
                  </a:txBody>
                  <a:tcPr anchor="ctr"/>
                </a:tc>
                <a:tc>
                  <a:txBody>
                    <a:bodyPr/>
                    <a:lstStyle/>
                    <a:p>
                      <a:pPr algn="ctr"/>
                      <a:r>
                        <a:rPr lang="en-US" dirty="0"/>
                        <a:t>WebRTC-based real-time audio streaming</a:t>
                      </a:r>
                      <a:endParaRPr lang="en-IN" dirty="0"/>
                    </a:p>
                  </a:txBody>
                  <a:tcPr anchor="ctr"/>
                </a:tc>
                <a:extLst>
                  <a:ext uri="{0D108BD9-81ED-4DB2-BD59-A6C34878D82A}">
                    <a16:rowId xmlns:a16="http://schemas.microsoft.com/office/drawing/2014/main" val="4033728600"/>
                  </a:ext>
                </a:extLst>
              </a:tr>
              <a:tr h="177690">
                <a:tc>
                  <a:txBody>
                    <a:bodyPr/>
                    <a:lstStyle/>
                    <a:p>
                      <a:pPr algn="ctr"/>
                      <a:r>
                        <a:rPr lang="en-US" dirty="0"/>
                        <a:t>LLM Model (Vapi AI)</a:t>
                      </a:r>
                      <a:endParaRPr lang="en-IN" dirty="0"/>
                    </a:p>
                  </a:txBody>
                  <a:tcPr anchor="ctr"/>
                </a:tc>
                <a:tc>
                  <a:txBody>
                    <a:bodyPr/>
                    <a:lstStyle/>
                    <a:p>
                      <a:pPr algn="ctr"/>
                      <a:r>
                        <a:rPr lang="en-IN" dirty="0"/>
                        <a:t>OpenAI GPT-4o</a:t>
                      </a:r>
                    </a:p>
                  </a:txBody>
                  <a:tcPr anchor="ctr"/>
                </a:tc>
                <a:tc>
                  <a:txBody>
                    <a:bodyPr/>
                    <a:lstStyle/>
                    <a:p>
                      <a:pPr algn="ctr"/>
                      <a:r>
                        <a:rPr lang="en-IN" sz="1800" b="0" i="0" kern="1200" dirty="0">
                          <a:solidFill>
                            <a:schemeClr val="tx1"/>
                          </a:solidFill>
                          <a:effectLst/>
                          <a:latin typeface="+mn-lt"/>
                          <a:ea typeface="+mn-ea"/>
                          <a:cs typeface="+mn-cs"/>
                        </a:rPr>
                        <a:t>LLM powering investor persona </a:t>
                      </a:r>
                      <a:r>
                        <a:rPr lang="en-IN" sz="1800" b="0" i="0" kern="1200" dirty="0" err="1">
                          <a:solidFill>
                            <a:schemeClr val="tx1"/>
                          </a:solidFill>
                          <a:effectLst/>
                          <a:latin typeface="+mn-lt"/>
                          <a:ea typeface="+mn-ea"/>
                          <a:cs typeface="+mn-cs"/>
                        </a:rPr>
                        <a:t>behavior</a:t>
                      </a:r>
                      <a:endParaRPr lang="en-IN" dirty="0"/>
                    </a:p>
                  </a:txBody>
                  <a:tcPr anchor="ctr"/>
                </a:tc>
                <a:extLst>
                  <a:ext uri="{0D108BD9-81ED-4DB2-BD59-A6C34878D82A}">
                    <a16:rowId xmlns:a16="http://schemas.microsoft.com/office/drawing/2014/main" val="2562211559"/>
                  </a:ext>
                </a:extLst>
              </a:tr>
              <a:tr h="177690">
                <a:tc>
                  <a:txBody>
                    <a:bodyPr/>
                    <a:lstStyle/>
                    <a:p>
                      <a:pPr algn="ctr"/>
                      <a:r>
                        <a:rPr lang="en-US" dirty="0"/>
                        <a:t>Speech (Vapi AI)</a:t>
                      </a:r>
                      <a:endParaRPr lang="en-IN" dirty="0"/>
                    </a:p>
                  </a:txBody>
                  <a:tcPr anchor="ctr"/>
                </a:tc>
                <a:tc>
                  <a:txBody>
                    <a:bodyPr/>
                    <a:lstStyle/>
                    <a:p>
                      <a:pPr algn="ctr"/>
                      <a:r>
                        <a:rPr lang="en-IN" dirty="0" err="1"/>
                        <a:t>Deepgram</a:t>
                      </a:r>
                      <a:r>
                        <a:rPr lang="en-IN" dirty="0"/>
                        <a:t> (STT) + </a:t>
                      </a:r>
                      <a:r>
                        <a:rPr lang="en-IN" dirty="0" err="1"/>
                        <a:t>ElevenLabs</a:t>
                      </a:r>
                      <a:r>
                        <a:rPr lang="en-IN" dirty="0"/>
                        <a:t> (TTS)</a:t>
                      </a:r>
                    </a:p>
                  </a:txBody>
                  <a:tcPr anchor="ctr"/>
                </a:tc>
                <a:tc>
                  <a:txBody>
                    <a:bodyPr/>
                    <a:lstStyle/>
                    <a:p>
                      <a:pPr algn="ctr"/>
                      <a:r>
                        <a:rPr lang="en-US" dirty="0"/>
                        <a:t>Speech recognition and voice synthesis</a:t>
                      </a:r>
                      <a:endParaRPr lang="en-IN" dirty="0"/>
                    </a:p>
                  </a:txBody>
                  <a:tcPr anchor="ctr"/>
                </a:tc>
                <a:extLst>
                  <a:ext uri="{0D108BD9-81ED-4DB2-BD59-A6C34878D82A}">
                    <a16:rowId xmlns:a16="http://schemas.microsoft.com/office/drawing/2014/main" val="363563145"/>
                  </a:ext>
                </a:extLst>
              </a:tr>
              <a:tr h="177690">
                <a:tc>
                  <a:txBody>
                    <a:bodyPr/>
                    <a:lstStyle/>
                    <a:p>
                      <a:pPr algn="ctr"/>
                      <a:r>
                        <a:rPr lang="en-US" dirty="0"/>
                        <a:t>Payments</a:t>
                      </a:r>
                      <a:endParaRPr lang="en-IN" dirty="0"/>
                    </a:p>
                  </a:txBody>
                  <a:tcPr anchor="ctr"/>
                </a:tc>
                <a:tc>
                  <a:txBody>
                    <a:bodyPr/>
                    <a:lstStyle/>
                    <a:p>
                      <a:pPr algn="ctr"/>
                      <a:r>
                        <a:rPr lang="en-IN" dirty="0" err="1"/>
                        <a:t>Razorpay</a:t>
                      </a:r>
                      <a:endParaRPr lang="en-IN" dirty="0"/>
                    </a:p>
                  </a:txBody>
                  <a:tcPr anchor="ctr"/>
                </a:tc>
                <a:tc>
                  <a:txBody>
                    <a:bodyPr/>
                    <a:lstStyle/>
                    <a:p>
                      <a:pPr algn="ctr"/>
                      <a:r>
                        <a:rPr lang="en-IN" dirty="0"/>
                        <a:t>Credit purchase </a:t>
                      </a:r>
                    </a:p>
                  </a:txBody>
                  <a:tcPr anchor="ctr"/>
                </a:tc>
                <a:extLst>
                  <a:ext uri="{0D108BD9-81ED-4DB2-BD59-A6C34878D82A}">
                    <a16:rowId xmlns:a16="http://schemas.microsoft.com/office/drawing/2014/main" val="589500626"/>
                  </a:ext>
                </a:extLst>
              </a:tr>
            </a:tbl>
          </a:graphicData>
        </a:graphic>
      </p:graphicFrame>
    </p:spTree>
    <p:extLst>
      <p:ext uri="{BB962C8B-B14F-4D97-AF65-F5344CB8AC3E}">
        <p14:creationId xmlns:p14="http://schemas.microsoft.com/office/powerpoint/2010/main" val="591635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0F83EB-533F-5049-6324-09C4C937ACE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387289-4327-965E-0135-8F6A4B29C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1B0A1F6-9970-FD77-C1BD-03A7F5A85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D1CF2A2-D9C4-250C-0DE1-11C4B2677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B478E694-C339-C48B-AFFB-835042BF0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195BBDAE-37A3-49DB-907E-67118F684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8E5B8B5-F54D-0F5F-7464-807CA938E3D4}"/>
              </a:ext>
            </a:extLst>
          </p:cNvPr>
          <p:cNvSpPr>
            <a:spLocks noGrp="1"/>
          </p:cNvSpPr>
          <p:nvPr>
            <p:ph type="title"/>
          </p:nvPr>
        </p:nvSpPr>
        <p:spPr>
          <a:xfrm>
            <a:off x="459346" y="278535"/>
            <a:ext cx="9895951" cy="1033669"/>
          </a:xfrm>
        </p:spPr>
        <p:txBody>
          <a:bodyPr>
            <a:normAutofit/>
          </a:bodyPr>
          <a:lstStyle/>
          <a:p>
            <a:r>
              <a:rPr lang="en-US" sz="4000" b="1" dirty="0">
                <a:solidFill>
                  <a:srgbClr val="FFFFFF"/>
                </a:solidFill>
                <a:latin typeface="Cambria" panose="02040503050406030204" pitchFamily="18" charset="0"/>
              </a:rPr>
              <a:t>ANALYTICS DASHBOARD</a:t>
            </a:r>
            <a:endParaRPr lang="en-IN" sz="4000" b="1" dirty="0">
              <a:solidFill>
                <a:srgbClr val="FFFFFF"/>
              </a:solidFill>
              <a:latin typeface="Cambria" panose="02040503050406030204" pitchFamily="18" charset="0"/>
            </a:endParaRPr>
          </a:p>
        </p:txBody>
      </p:sp>
      <p:pic>
        <p:nvPicPr>
          <p:cNvPr id="7" name="Picture 6" descr="Logo&#10;&#10;Description automatically generated">
            <a:extLst>
              <a:ext uri="{FF2B5EF4-FFF2-40B4-BE49-F238E27FC236}">
                <a16:creationId xmlns:a16="http://schemas.microsoft.com/office/drawing/2014/main" id="{3B5C68B0-943A-37AF-12BF-8590513CAFAE}"/>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8923693" y="430510"/>
            <a:ext cx="2462400" cy="668525"/>
          </a:xfrm>
          <a:prstGeom prst="rect">
            <a:avLst/>
          </a:prstGeom>
          <a:noFill/>
          <a:ln>
            <a:noFill/>
          </a:ln>
        </p:spPr>
      </p:pic>
      <p:sp>
        <p:nvSpPr>
          <p:cNvPr id="4" name="Slide Number Placeholder 3">
            <a:extLst>
              <a:ext uri="{FF2B5EF4-FFF2-40B4-BE49-F238E27FC236}">
                <a16:creationId xmlns:a16="http://schemas.microsoft.com/office/drawing/2014/main" id="{7517EB7E-83B9-A232-37F3-25C5C1934B0D}"/>
              </a:ext>
            </a:extLst>
          </p:cNvPr>
          <p:cNvSpPr>
            <a:spLocks noGrp="1"/>
          </p:cNvSpPr>
          <p:nvPr>
            <p:ph type="sldNum" sz="quarter" idx="12"/>
          </p:nvPr>
        </p:nvSpPr>
        <p:spPr/>
        <p:txBody>
          <a:bodyPr/>
          <a:lstStyle/>
          <a:p>
            <a:fld id="{87ACCF74-76A4-4B7C-AE89-E33624618226}" type="slidenum">
              <a:rPr lang="en-IN" smtClean="0"/>
              <a:t>16</a:t>
            </a:fld>
            <a:endParaRPr lang="en-IN" dirty="0"/>
          </a:p>
        </p:txBody>
      </p:sp>
      <p:pic>
        <p:nvPicPr>
          <p:cNvPr id="9" name="Picture 8">
            <a:extLst>
              <a:ext uri="{FF2B5EF4-FFF2-40B4-BE49-F238E27FC236}">
                <a16:creationId xmlns:a16="http://schemas.microsoft.com/office/drawing/2014/main" id="{9E7DECFE-3117-3FC5-223B-A413CBE38CD5}"/>
              </a:ext>
            </a:extLst>
          </p:cNvPr>
          <p:cNvPicPr>
            <a:picLocks noChangeAspect="1"/>
          </p:cNvPicPr>
          <p:nvPr/>
        </p:nvPicPr>
        <p:blipFill>
          <a:blip r:embed="rId4">
            <a:extLst>
              <a:ext uri="{28A0092B-C50C-407E-A947-70E740481C1C}">
                <a14:useLocalDpi xmlns:a14="http://schemas.microsoft.com/office/drawing/2010/main" val="0"/>
              </a:ext>
            </a:extLst>
          </a:blip>
          <a:srcRect l="26005" r="23768"/>
          <a:stretch>
            <a:fillRect/>
          </a:stretch>
        </p:blipFill>
        <p:spPr>
          <a:xfrm>
            <a:off x="714407" y="1733957"/>
            <a:ext cx="5165100" cy="4927437"/>
          </a:xfrm>
          <a:prstGeom prst="rect">
            <a:avLst/>
          </a:prstGeom>
        </p:spPr>
      </p:pic>
      <p:pic>
        <p:nvPicPr>
          <p:cNvPr id="13" name="Picture 12">
            <a:extLst>
              <a:ext uri="{FF2B5EF4-FFF2-40B4-BE49-F238E27FC236}">
                <a16:creationId xmlns:a16="http://schemas.microsoft.com/office/drawing/2014/main" id="{EE8994F5-1728-D548-7FDD-89E04878B3F4}"/>
              </a:ext>
            </a:extLst>
          </p:cNvPr>
          <p:cNvPicPr>
            <a:picLocks noChangeAspect="1"/>
          </p:cNvPicPr>
          <p:nvPr/>
        </p:nvPicPr>
        <p:blipFill>
          <a:blip r:embed="rId5"/>
          <a:stretch>
            <a:fillRect/>
          </a:stretch>
        </p:blipFill>
        <p:spPr>
          <a:xfrm>
            <a:off x="6421536" y="1733957"/>
            <a:ext cx="4498281" cy="4881856"/>
          </a:xfrm>
          <a:prstGeom prst="rect">
            <a:avLst/>
          </a:prstGeom>
        </p:spPr>
      </p:pic>
    </p:spTree>
    <p:extLst>
      <p:ext uri="{BB962C8B-B14F-4D97-AF65-F5344CB8AC3E}">
        <p14:creationId xmlns:p14="http://schemas.microsoft.com/office/powerpoint/2010/main" val="1339041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C53AD4-B62D-8390-52E8-991AE2234FE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E78E4BD-C4D9-3FCF-A093-2A2ABE07CB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965DC05B-8C98-FA1B-D99F-4B59F214A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ABCCFD7-1D30-0B43-4915-4F62BE5EBD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653C610E-F0B6-5285-D337-1839FE1BF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4DA79B3B-A56F-0867-972E-417EA7CB0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80349A-B576-2700-C66C-060F042350BD}"/>
              </a:ext>
            </a:extLst>
          </p:cNvPr>
          <p:cNvSpPr>
            <a:spLocks noGrp="1"/>
          </p:cNvSpPr>
          <p:nvPr>
            <p:ph type="title"/>
          </p:nvPr>
        </p:nvSpPr>
        <p:spPr>
          <a:xfrm>
            <a:off x="495305" y="186741"/>
            <a:ext cx="8115295" cy="1217257"/>
          </a:xfrm>
        </p:spPr>
        <p:txBody>
          <a:bodyPr>
            <a:normAutofit/>
          </a:bodyPr>
          <a:lstStyle/>
          <a:p>
            <a:r>
              <a:rPr lang="en-IN" sz="4000" b="1" dirty="0">
                <a:solidFill>
                  <a:schemeClr val="bg1"/>
                </a:solidFill>
                <a:latin typeface="Cambria" panose="02040503050406030204" pitchFamily="18" charset="0"/>
              </a:rPr>
              <a:t>TESTING</a:t>
            </a:r>
          </a:p>
        </p:txBody>
      </p:sp>
      <p:pic>
        <p:nvPicPr>
          <p:cNvPr id="7" name="Picture 6" descr="Logo&#10;&#10;Description automatically generated">
            <a:extLst>
              <a:ext uri="{FF2B5EF4-FFF2-40B4-BE49-F238E27FC236}">
                <a16:creationId xmlns:a16="http://schemas.microsoft.com/office/drawing/2014/main" id="{0B6DA976-D510-1733-A3B8-915E05475314}"/>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8922448" y="461106"/>
            <a:ext cx="2462400" cy="668525"/>
          </a:xfrm>
          <a:prstGeom prst="rect">
            <a:avLst/>
          </a:prstGeom>
          <a:noFill/>
          <a:ln>
            <a:noFill/>
          </a:ln>
        </p:spPr>
      </p:pic>
      <p:sp>
        <p:nvSpPr>
          <p:cNvPr id="8" name="Content Placeholder 2">
            <a:extLst>
              <a:ext uri="{FF2B5EF4-FFF2-40B4-BE49-F238E27FC236}">
                <a16:creationId xmlns:a16="http://schemas.microsoft.com/office/drawing/2014/main" id="{98212260-DEF6-FC8A-A030-A3A00C59E560}"/>
              </a:ext>
            </a:extLst>
          </p:cNvPr>
          <p:cNvSpPr txBox="1">
            <a:spLocks/>
          </p:cNvSpPr>
          <p:nvPr/>
        </p:nvSpPr>
        <p:spPr>
          <a:xfrm>
            <a:off x="2373991" y="2461421"/>
            <a:ext cx="8195620" cy="5529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IN" dirty="0">
              <a:solidFill>
                <a:srgbClr val="0033CC"/>
              </a:solidFill>
              <a:latin typeface="Cambria" panose="02040503050406030204" pitchFamily="18" charset="0"/>
            </a:endParaRPr>
          </a:p>
        </p:txBody>
      </p:sp>
      <p:sp>
        <p:nvSpPr>
          <p:cNvPr id="4" name="Slide Number Placeholder 3">
            <a:extLst>
              <a:ext uri="{FF2B5EF4-FFF2-40B4-BE49-F238E27FC236}">
                <a16:creationId xmlns:a16="http://schemas.microsoft.com/office/drawing/2014/main" id="{F56B1A0B-86EB-A328-124B-F878C92F582A}"/>
              </a:ext>
            </a:extLst>
          </p:cNvPr>
          <p:cNvSpPr>
            <a:spLocks noGrp="1"/>
          </p:cNvSpPr>
          <p:nvPr>
            <p:ph type="sldNum" sz="quarter" idx="12"/>
          </p:nvPr>
        </p:nvSpPr>
        <p:spPr/>
        <p:txBody>
          <a:bodyPr/>
          <a:lstStyle/>
          <a:p>
            <a:fld id="{87ACCF74-76A4-4B7C-AE89-E33624618226}" type="slidenum">
              <a:rPr lang="en-IN" smtClean="0"/>
              <a:t>17</a:t>
            </a:fld>
            <a:endParaRPr lang="en-IN" dirty="0"/>
          </a:p>
        </p:txBody>
      </p:sp>
      <p:sp>
        <p:nvSpPr>
          <p:cNvPr id="3" name="Content Placeholder 2">
            <a:extLst>
              <a:ext uri="{FF2B5EF4-FFF2-40B4-BE49-F238E27FC236}">
                <a16:creationId xmlns:a16="http://schemas.microsoft.com/office/drawing/2014/main" id="{320902A0-2A30-8A17-9482-31F8ECD60EC1}"/>
              </a:ext>
            </a:extLst>
          </p:cNvPr>
          <p:cNvSpPr>
            <a:spLocks noGrp="1"/>
          </p:cNvSpPr>
          <p:nvPr>
            <p:ph idx="1"/>
          </p:nvPr>
        </p:nvSpPr>
        <p:spPr/>
        <p:txBody>
          <a:bodyPr>
            <a:normAutofit fontScale="92500"/>
          </a:bodyPr>
          <a:lstStyle/>
          <a:p>
            <a:r>
              <a:rPr lang="en-US" sz="2300" dirty="0"/>
              <a:t>Unit Tests (</a:t>
            </a:r>
            <a:r>
              <a:rPr lang="en-US" sz="2300" dirty="0" err="1"/>
              <a:t>Vitest</a:t>
            </a:r>
            <a:r>
              <a:rPr lang="en-US" sz="2300" dirty="0"/>
              <a:t>) — 52 tests, all passed in 1.30s:</a:t>
            </a:r>
          </a:p>
          <a:p>
            <a:pPr lvl="1"/>
            <a:r>
              <a:rPr lang="en-US" sz="1900" dirty="0"/>
              <a:t>pitchParser.js (32 tests): JSON parsing, repair, assessment key extraction, score computation, rating styles, end-to-end pipelines</a:t>
            </a:r>
          </a:p>
          <a:p>
            <a:pPr lvl="1"/>
            <a:r>
              <a:rPr lang="en-US" sz="1900" dirty="0"/>
              <a:t>pitchAnalytics.js (15 tests): Score extraction, average calculation, rating color mapping, null handling</a:t>
            </a:r>
          </a:p>
          <a:p>
            <a:pPr lvl="1"/>
            <a:r>
              <a:rPr lang="en-US" sz="1900" dirty="0"/>
              <a:t>pitchContext.js (5 tests): Context string building, truncation at 1500 chars, edge cases with missing data</a:t>
            </a:r>
          </a:p>
          <a:p>
            <a:pPr marL="457200" lvl="1" indent="0">
              <a:buNone/>
            </a:pPr>
            <a:endParaRPr lang="en-US" sz="1900" dirty="0"/>
          </a:p>
          <a:p>
            <a:r>
              <a:rPr lang="en-US" sz="2300" dirty="0"/>
              <a:t>Integration Testing:</a:t>
            </a:r>
          </a:p>
          <a:p>
            <a:pPr marL="457200" lvl="1" indent="0">
              <a:buNone/>
            </a:pPr>
            <a:r>
              <a:rPr lang="en-US" sz="1900" dirty="0"/>
              <a:t>OAuth login flows, payment processing (order creation, signature verification, webhook delivery), Vapi proxy authentication and credit checks</a:t>
            </a:r>
          </a:p>
          <a:p>
            <a:endParaRPr lang="en-US" sz="2300" dirty="0"/>
          </a:p>
          <a:p>
            <a:r>
              <a:rPr lang="en-US" sz="2300" dirty="0"/>
              <a:t>User Acceptance Testing:</a:t>
            </a:r>
          </a:p>
          <a:p>
            <a:pPr marL="457200" lvl="1" indent="0">
              <a:buNone/>
            </a:pPr>
            <a:r>
              <a:rPr lang="en-US" sz="1900" dirty="0"/>
              <a:t>End-to-end pitch sessions conducted across all 10 pitch types, verifying the full flow from selection through assessment display</a:t>
            </a:r>
            <a:endParaRPr lang="en-IN" sz="1900" dirty="0"/>
          </a:p>
        </p:txBody>
      </p:sp>
    </p:spTree>
    <p:extLst>
      <p:ext uri="{BB962C8B-B14F-4D97-AF65-F5344CB8AC3E}">
        <p14:creationId xmlns:p14="http://schemas.microsoft.com/office/powerpoint/2010/main" val="4094065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244BA4-7796-0304-8583-DDB62C9CD62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26A5BFD-61D0-FB06-AEA6-E7A41D8EA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E0B2BF4-148B-014C-4931-389F6C18C1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2D146843-21A3-1CCA-D521-4DA829B7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EAD82068-6622-F2AE-E98B-11A6D8AAA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21E752FB-E1B2-B70A-FB85-C768B51DD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7C33D7-6C47-203C-EDB6-24195706198B}"/>
              </a:ext>
            </a:extLst>
          </p:cNvPr>
          <p:cNvSpPr>
            <a:spLocks noGrp="1"/>
          </p:cNvSpPr>
          <p:nvPr>
            <p:ph type="title"/>
          </p:nvPr>
        </p:nvSpPr>
        <p:spPr>
          <a:xfrm>
            <a:off x="459346" y="186741"/>
            <a:ext cx="8115295" cy="1217257"/>
          </a:xfrm>
        </p:spPr>
        <p:txBody>
          <a:bodyPr>
            <a:normAutofit/>
          </a:bodyPr>
          <a:lstStyle/>
          <a:p>
            <a:r>
              <a:rPr lang="en-IN" sz="4000" b="1" dirty="0">
                <a:solidFill>
                  <a:schemeClr val="bg1"/>
                </a:solidFill>
                <a:latin typeface="Cambria" panose="02040503050406030204" pitchFamily="18" charset="0"/>
              </a:rPr>
              <a:t>RESULTS</a:t>
            </a:r>
          </a:p>
        </p:txBody>
      </p:sp>
      <p:pic>
        <p:nvPicPr>
          <p:cNvPr id="7" name="Picture 6" descr="Logo&#10;&#10;Description automatically generated">
            <a:extLst>
              <a:ext uri="{FF2B5EF4-FFF2-40B4-BE49-F238E27FC236}">
                <a16:creationId xmlns:a16="http://schemas.microsoft.com/office/drawing/2014/main" id="{EE93E5A9-3639-DC02-B783-B34DFA01FA54}"/>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8751000" y="461106"/>
            <a:ext cx="2462400" cy="668525"/>
          </a:xfrm>
          <a:prstGeom prst="rect">
            <a:avLst/>
          </a:prstGeom>
          <a:noFill/>
          <a:ln>
            <a:noFill/>
          </a:ln>
        </p:spPr>
      </p:pic>
      <p:sp>
        <p:nvSpPr>
          <p:cNvPr id="8" name="Content Placeholder 2">
            <a:extLst>
              <a:ext uri="{FF2B5EF4-FFF2-40B4-BE49-F238E27FC236}">
                <a16:creationId xmlns:a16="http://schemas.microsoft.com/office/drawing/2014/main" id="{D11C3C5A-8D4D-E3D2-4DA8-3477FD2C66B2}"/>
              </a:ext>
            </a:extLst>
          </p:cNvPr>
          <p:cNvSpPr txBox="1">
            <a:spLocks/>
          </p:cNvSpPr>
          <p:nvPr/>
        </p:nvSpPr>
        <p:spPr>
          <a:xfrm>
            <a:off x="2373991" y="2461421"/>
            <a:ext cx="8195620" cy="5529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IN" dirty="0">
              <a:solidFill>
                <a:srgbClr val="0033CC"/>
              </a:solidFill>
              <a:latin typeface="Cambria" panose="02040503050406030204" pitchFamily="18" charset="0"/>
            </a:endParaRPr>
          </a:p>
        </p:txBody>
      </p:sp>
      <p:sp>
        <p:nvSpPr>
          <p:cNvPr id="4" name="Slide Number Placeholder 3">
            <a:extLst>
              <a:ext uri="{FF2B5EF4-FFF2-40B4-BE49-F238E27FC236}">
                <a16:creationId xmlns:a16="http://schemas.microsoft.com/office/drawing/2014/main" id="{739A5137-CA79-A593-ECC1-9BCFF97DA7DB}"/>
              </a:ext>
            </a:extLst>
          </p:cNvPr>
          <p:cNvSpPr>
            <a:spLocks noGrp="1"/>
          </p:cNvSpPr>
          <p:nvPr>
            <p:ph type="sldNum" sz="quarter" idx="12"/>
          </p:nvPr>
        </p:nvSpPr>
        <p:spPr/>
        <p:txBody>
          <a:bodyPr/>
          <a:lstStyle/>
          <a:p>
            <a:fld id="{87ACCF74-76A4-4B7C-AE89-E33624618226}" type="slidenum">
              <a:rPr lang="en-IN" smtClean="0"/>
              <a:t>18</a:t>
            </a:fld>
            <a:endParaRPr lang="en-IN" dirty="0"/>
          </a:p>
        </p:txBody>
      </p:sp>
      <p:sp>
        <p:nvSpPr>
          <p:cNvPr id="3" name="Content Placeholder 2">
            <a:extLst>
              <a:ext uri="{FF2B5EF4-FFF2-40B4-BE49-F238E27FC236}">
                <a16:creationId xmlns:a16="http://schemas.microsoft.com/office/drawing/2014/main" id="{B5E09806-757D-E39F-EEC0-F96731A2D7ED}"/>
              </a:ext>
            </a:extLst>
          </p:cNvPr>
          <p:cNvSpPr>
            <a:spLocks noGrp="1"/>
          </p:cNvSpPr>
          <p:nvPr>
            <p:ph idx="1"/>
          </p:nvPr>
        </p:nvSpPr>
        <p:spPr/>
        <p:txBody>
          <a:bodyPr>
            <a:noAutofit/>
          </a:bodyPr>
          <a:lstStyle/>
          <a:p>
            <a:r>
              <a:rPr lang="en-US" sz="1600" b="1" dirty="0"/>
              <a:t>Functional Flows: </a:t>
            </a:r>
            <a:r>
              <a:rPr lang="en-US" sz="1600" dirty="0"/>
              <a:t>The end-to-end pitch flow is fully operational: from type selection and voice conversation through to structured assessment with scores and feedback. The analytics dashboard successfully renders score trends, skill radar, and pitch type distribution with idea-level filtering. Authentication works seamlessly with both email/password and Google OAuth including session persistence and route guarding.</a:t>
            </a:r>
          </a:p>
          <a:p>
            <a:endParaRPr lang="en-US" sz="1600" b="1" dirty="0"/>
          </a:p>
          <a:p>
            <a:r>
              <a:rPr lang="en-US" sz="1600" b="1" dirty="0"/>
              <a:t>Payment &amp; Credit System:</a:t>
            </a:r>
            <a:r>
              <a:rPr lang="en-US" sz="1600" dirty="0"/>
              <a:t> Dual-verification architecture processed all test transactions without any double-crediting. Fractional credit deduction accurately tracked per-minute usage across sessions of varying lengths.</a:t>
            </a:r>
          </a:p>
          <a:p>
            <a:endParaRPr lang="en-US" sz="1600" dirty="0"/>
          </a:p>
          <a:p>
            <a:r>
              <a:rPr lang="en-US" sz="1600" b="1" dirty="0"/>
              <a:t>Scoring Behavior:</a:t>
            </a:r>
            <a:r>
              <a:rPr lang="en-US" sz="1600" dirty="0"/>
              <a:t> The AI appropriately differentiated difficulty levels — easier types like Customer Discovery (3.5/5) and Co-Founder Pitch (3.6/5) scored higher than harder types like VC Ready (2.8/5) and Investor Skeptic Mode (2.5/5). </a:t>
            </a:r>
          </a:p>
          <a:p>
            <a:endParaRPr lang="en-US" sz="1600" dirty="0"/>
          </a:p>
          <a:p>
            <a:r>
              <a:rPr lang="en-US" sz="1600" b="1" dirty="0"/>
              <a:t>Context Carry-Forward:</a:t>
            </a:r>
            <a:r>
              <a:rPr lang="en-US" sz="1600" dirty="0"/>
              <a:t> When sessions included prior context, the AI acknowledged previous feedback and incorporated it into the conversation with targeted follow-up questions based on the founder's earlier performance.</a:t>
            </a:r>
          </a:p>
          <a:p>
            <a:endParaRPr lang="en-US" sz="1600" dirty="0"/>
          </a:p>
          <a:p>
            <a:r>
              <a:rPr lang="en-US" sz="1600" b="1" dirty="0"/>
              <a:t>Testing:</a:t>
            </a:r>
            <a:r>
              <a:rPr lang="en-US" sz="1600" dirty="0"/>
              <a:t> 52/52 unit tests passing. Integration and UAT validated all flows across all 10 pitch types.</a:t>
            </a:r>
            <a:endParaRPr lang="en-IN" sz="1600" dirty="0"/>
          </a:p>
        </p:txBody>
      </p:sp>
    </p:spTree>
    <p:extLst>
      <p:ext uri="{BB962C8B-B14F-4D97-AF65-F5344CB8AC3E}">
        <p14:creationId xmlns:p14="http://schemas.microsoft.com/office/powerpoint/2010/main" val="1501502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7C4C9C-C69E-DF00-3250-6E04BD6A155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DAE5C4-6BB8-0856-7F57-DC9DF685C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03F34633-684D-47C9-7CC2-A221370AB3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BDC8BBF2-7845-FBDD-B527-944FD029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5712F72-21FF-2813-7300-07490BACE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87AD6BC7-92EB-661D-B7CE-65902E7A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9B1E948-05F8-751F-9848-8FE4B410E24A}"/>
              </a:ext>
            </a:extLst>
          </p:cNvPr>
          <p:cNvSpPr>
            <a:spLocks noGrp="1"/>
          </p:cNvSpPr>
          <p:nvPr>
            <p:ph type="title"/>
          </p:nvPr>
        </p:nvSpPr>
        <p:spPr>
          <a:xfrm>
            <a:off x="459358" y="186741"/>
            <a:ext cx="8115295" cy="1217257"/>
          </a:xfrm>
        </p:spPr>
        <p:txBody>
          <a:bodyPr>
            <a:normAutofit/>
          </a:bodyPr>
          <a:lstStyle/>
          <a:p>
            <a:r>
              <a:rPr lang="en-US" sz="4000" b="1" dirty="0">
                <a:solidFill>
                  <a:schemeClr val="bg1"/>
                </a:solidFill>
                <a:latin typeface="Cambria" panose="02040503050406030204" pitchFamily="18" charset="0"/>
              </a:rPr>
              <a:t>CONCLUSION</a:t>
            </a:r>
            <a:endParaRPr lang="en-IN" sz="4000" b="1" dirty="0">
              <a:solidFill>
                <a:schemeClr val="bg1"/>
              </a:solidFill>
              <a:latin typeface="Cambria" panose="02040503050406030204" pitchFamily="18" charset="0"/>
            </a:endParaRPr>
          </a:p>
        </p:txBody>
      </p:sp>
      <p:pic>
        <p:nvPicPr>
          <p:cNvPr id="7" name="Picture 6" descr="Logo&#10;&#10;Description automatically generated">
            <a:extLst>
              <a:ext uri="{FF2B5EF4-FFF2-40B4-BE49-F238E27FC236}">
                <a16:creationId xmlns:a16="http://schemas.microsoft.com/office/drawing/2014/main" id="{75BE2F6B-E220-91AD-DABB-93E8DD767FDC}"/>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8922448" y="461106"/>
            <a:ext cx="2462400" cy="668525"/>
          </a:xfrm>
          <a:prstGeom prst="rect">
            <a:avLst/>
          </a:prstGeom>
          <a:noFill/>
          <a:ln>
            <a:noFill/>
          </a:ln>
        </p:spPr>
      </p:pic>
      <p:sp>
        <p:nvSpPr>
          <p:cNvPr id="8" name="Content Placeholder 2">
            <a:extLst>
              <a:ext uri="{FF2B5EF4-FFF2-40B4-BE49-F238E27FC236}">
                <a16:creationId xmlns:a16="http://schemas.microsoft.com/office/drawing/2014/main" id="{C86212E3-8AD1-8451-D31D-756864EE62F6}"/>
              </a:ext>
            </a:extLst>
          </p:cNvPr>
          <p:cNvSpPr txBox="1">
            <a:spLocks/>
          </p:cNvSpPr>
          <p:nvPr/>
        </p:nvSpPr>
        <p:spPr>
          <a:xfrm>
            <a:off x="2373991" y="2461421"/>
            <a:ext cx="8195620" cy="5529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IN" dirty="0">
              <a:solidFill>
                <a:srgbClr val="0033CC"/>
              </a:solidFill>
              <a:latin typeface="Cambria" panose="02040503050406030204" pitchFamily="18" charset="0"/>
            </a:endParaRPr>
          </a:p>
        </p:txBody>
      </p:sp>
      <p:sp>
        <p:nvSpPr>
          <p:cNvPr id="4" name="Slide Number Placeholder 3">
            <a:extLst>
              <a:ext uri="{FF2B5EF4-FFF2-40B4-BE49-F238E27FC236}">
                <a16:creationId xmlns:a16="http://schemas.microsoft.com/office/drawing/2014/main" id="{476B249B-CA26-4B43-F02B-47758C4F3119}"/>
              </a:ext>
            </a:extLst>
          </p:cNvPr>
          <p:cNvSpPr>
            <a:spLocks noGrp="1"/>
          </p:cNvSpPr>
          <p:nvPr>
            <p:ph type="sldNum" sz="quarter" idx="12"/>
          </p:nvPr>
        </p:nvSpPr>
        <p:spPr/>
        <p:txBody>
          <a:bodyPr/>
          <a:lstStyle/>
          <a:p>
            <a:fld id="{87ACCF74-76A4-4B7C-AE89-E33624618226}" type="slidenum">
              <a:rPr lang="en-IN" smtClean="0"/>
              <a:t>19</a:t>
            </a:fld>
            <a:endParaRPr lang="en-IN" dirty="0"/>
          </a:p>
        </p:txBody>
      </p:sp>
      <p:sp>
        <p:nvSpPr>
          <p:cNvPr id="5" name="Rectangle 1">
            <a:extLst>
              <a:ext uri="{FF2B5EF4-FFF2-40B4-BE49-F238E27FC236}">
                <a16:creationId xmlns:a16="http://schemas.microsoft.com/office/drawing/2014/main" id="{58FAC474-63F9-AC7A-4EF8-DC644E9A6DB6}"/>
              </a:ext>
            </a:extLst>
          </p:cNvPr>
          <p:cNvSpPr>
            <a:spLocks noGrp="1" noChangeArrowheads="1"/>
          </p:cNvSpPr>
          <p:nvPr>
            <p:ph idx="1"/>
          </p:nvPr>
        </p:nvSpPr>
        <p:spPr bwMode="auto">
          <a:xfrm>
            <a:off x="171450" y="3769296"/>
            <a:ext cx="1173264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lvl="1" indent="0" eaLnBrk="0" fontAlgn="base" hangingPunct="0">
              <a:lnSpc>
                <a:spcPct val="100000"/>
              </a:lnSpc>
              <a:spcBef>
                <a:spcPct val="0"/>
              </a:spcBef>
              <a:spcAft>
                <a:spcPct val="0"/>
              </a:spcAft>
              <a:buNone/>
            </a:pPr>
            <a:endParaRPr kumimoji="0" lang="en-US" altLang="en-US" sz="18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457200" lvl="1"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
        <p:nvSpPr>
          <p:cNvPr id="9" name="TextBox 8">
            <a:extLst>
              <a:ext uri="{FF2B5EF4-FFF2-40B4-BE49-F238E27FC236}">
                <a16:creationId xmlns:a16="http://schemas.microsoft.com/office/drawing/2014/main" id="{7DC040F3-A181-6964-5F84-497D28A6D57F}"/>
              </a:ext>
            </a:extLst>
          </p:cNvPr>
          <p:cNvSpPr txBox="1"/>
          <p:nvPr/>
        </p:nvSpPr>
        <p:spPr>
          <a:xfrm>
            <a:off x="537160" y="1945260"/>
            <a:ext cx="11272402" cy="4832092"/>
          </a:xfrm>
          <a:prstGeom prst="rect">
            <a:avLst/>
          </a:prstGeom>
          <a:noFill/>
        </p:spPr>
        <p:txBody>
          <a:bodyPr wrap="square" rtlCol="0">
            <a:spAutoFit/>
          </a:bodyPr>
          <a:lstStyle/>
          <a:p>
            <a:pPr marL="285750" indent="-285750">
              <a:buFont typeface="Arial" panose="020B0604020202020204" pitchFamily="34" charset="0"/>
              <a:buChar char="•"/>
            </a:pPr>
            <a:r>
              <a:rPr lang="en-US" dirty="0"/>
              <a:t>Pitch Gym proves that AI-powered voice interaction can serve as a alternative to traditional pitch coaching for startup founders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platform makes structured pitch training accessible, affordable, and available on-demand, therefore removing barriers of cost, geography, and scheduling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Founders receive consistent, quantitative and actionable feedback that enables measurable improvement over time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project demonstrates a practical integration of multiple emerging technologies (voice AI, LLMs, real-time audio, serverless computing) into a cohesive product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approach is generalizable beyond startup pitching: the same framework could be adapted for sales training, job interview preparation, public speaking coaching, or academic viva practice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With the rise of AI agents, platforms like Pitch Gym represent a shift toward interactive, skill-based AI training tools that go beyond passive video watching to gain knowledge and practical experience</a:t>
            </a:r>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3211489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48D4EC-7114-C60B-5678-6E90C83FA26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6ABB0EF-530D-20DD-0DC3-176A07AE1C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6A59B098-99B0-98AF-F1A1-E976CEFAF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B41AC47-B4DA-B7B7-E119-97DA348088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796EA0D3-8776-5EB8-414F-9D4258A5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D69CC393-4C7C-E1CB-53C2-10BD1C66E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79FAF1B-1469-E622-AC15-01335350E04F}"/>
              </a:ext>
            </a:extLst>
          </p:cNvPr>
          <p:cNvSpPr>
            <a:spLocks noGrp="1"/>
          </p:cNvSpPr>
          <p:nvPr>
            <p:ph type="title"/>
          </p:nvPr>
        </p:nvSpPr>
        <p:spPr>
          <a:xfrm>
            <a:off x="459358" y="186741"/>
            <a:ext cx="8115295" cy="1217257"/>
          </a:xfrm>
        </p:spPr>
        <p:txBody>
          <a:bodyPr>
            <a:normAutofit/>
          </a:bodyPr>
          <a:lstStyle/>
          <a:p>
            <a:r>
              <a:rPr lang="en-IN" sz="4000" b="1" dirty="0">
                <a:solidFill>
                  <a:schemeClr val="bg1"/>
                </a:solidFill>
                <a:latin typeface="Cambria" panose="02040503050406030204" pitchFamily="18" charset="0"/>
              </a:rPr>
              <a:t>FUTURE ENHANCEMENTS</a:t>
            </a:r>
          </a:p>
        </p:txBody>
      </p:sp>
      <p:pic>
        <p:nvPicPr>
          <p:cNvPr id="7" name="Picture 6" descr="Logo&#10;&#10;Description automatically generated">
            <a:extLst>
              <a:ext uri="{FF2B5EF4-FFF2-40B4-BE49-F238E27FC236}">
                <a16:creationId xmlns:a16="http://schemas.microsoft.com/office/drawing/2014/main" id="{73A41764-CF82-3099-A4DA-BFBCC2F00CB9}"/>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8751000" y="461106"/>
            <a:ext cx="2462400" cy="668525"/>
          </a:xfrm>
          <a:prstGeom prst="rect">
            <a:avLst/>
          </a:prstGeom>
          <a:noFill/>
          <a:ln>
            <a:noFill/>
          </a:ln>
        </p:spPr>
      </p:pic>
      <p:sp>
        <p:nvSpPr>
          <p:cNvPr id="8" name="Content Placeholder 2">
            <a:extLst>
              <a:ext uri="{FF2B5EF4-FFF2-40B4-BE49-F238E27FC236}">
                <a16:creationId xmlns:a16="http://schemas.microsoft.com/office/drawing/2014/main" id="{E150815D-35E3-39AE-323B-D566F088395F}"/>
              </a:ext>
            </a:extLst>
          </p:cNvPr>
          <p:cNvSpPr txBox="1">
            <a:spLocks/>
          </p:cNvSpPr>
          <p:nvPr/>
        </p:nvSpPr>
        <p:spPr>
          <a:xfrm>
            <a:off x="2373991" y="2461421"/>
            <a:ext cx="8195620" cy="5529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IN" dirty="0">
              <a:solidFill>
                <a:srgbClr val="0033CC"/>
              </a:solidFill>
              <a:latin typeface="Cambria" panose="02040503050406030204" pitchFamily="18" charset="0"/>
            </a:endParaRPr>
          </a:p>
        </p:txBody>
      </p:sp>
      <p:sp>
        <p:nvSpPr>
          <p:cNvPr id="4" name="Slide Number Placeholder 3">
            <a:extLst>
              <a:ext uri="{FF2B5EF4-FFF2-40B4-BE49-F238E27FC236}">
                <a16:creationId xmlns:a16="http://schemas.microsoft.com/office/drawing/2014/main" id="{9D139A16-B5D3-BDFF-6211-12E3B0046150}"/>
              </a:ext>
            </a:extLst>
          </p:cNvPr>
          <p:cNvSpPr>
            <a:spLocks noGrp="1"/>
          </p:cNvSpPr>
          <p:nvPr>
            <p:ph type="sldNum" sz="quarter" idx="12"/>
          </p:nvPr>
        </p:nvSpPr>
        <p:spPr/>
        <p:txBody>
          <a:bodyPr/>
          <a:lstStyle/>
          <a:p>
            <a:fld id="{87ACCF74-76A4-4B7C-AE89-E33624618226}" type="slidenum">
              <a:rPr lang="en-IN" smtClean="0"/>
              <a:t>20</a:t>
            </a:fld>
            <a:endParaRPr lang="en-IN" dirty="0"/>
          </a:p>
        </p:txBody>
      </p:sp>
      <p:sp>
        <p:nvSpPr>
          <p:cNvPr id="3" name="Content Placeholder 2">
            <a:extLst>
              <a:ext uri="{FF2B5EF4-FFF2-40B4-BE49-F238E27FC236}">
                <a16:creationId xmlns:a16="http://schemas.microsoft.com/office/drawing/2014/main" id="{93EA2DAB-EC96-63C6-62EC-7A1F902C3E3B}"/>
              </a:ext>
            </a:extLst>
          </p:cNvPr>
          <p:cNvSpPr>
            <a:spLocks noGrp="1"/>
          </p:cNvSpPr>
          <p:nvPr>
            <p:ph idx="1"/>
          </p:nvPr>
        </p:nvSpPr>
        <p:spPr>
          <a:xfrm>
            <a:off x="838198" y="1709907"/>
            <a:ext cx="10515600" cy="4351338"/>
          </a:xfrm>
        </p:spPr>
        <p:txBody>
          <a:bodyPr>
            <a:noAutofit/>
          </a:bodyPr>
          <a:lstStyle/>
          <a:p>
            <a:r>
              <a:rPr lang="en-IN" sz="2000" b="1" dirty="0"/>
              <a:t>Fine-tuned scoring models:</a:t>
            </a:r>
            <a:r>
              <a:rPr lang="en-IN" sz="2000" dirty="0"/>
              <a:t> train on accumulated data for more accurate, calibrated assessments</a:t>
            </a:r>
          </a:p>
          <a:p>
            <a:endParaRPr lang="en-IN" sz="2000" dirty="0"/>
          </a:p>
          <a:p>
            <a:r>
              <a:rPr lang="en-IN" sz="2000" b="1" dirty="0"/>
              <a:t>Video-based delivery analysis: </a:t>
            </a:r>
            <a:r>
              <a:rPr lang="en-IN" sz="2000" dirty="0"/>
              <a:t> </a:t>
            </a:r>
            <a:r>
              <a:rPr lang="en-IN" sz="2000" dirty="0" err="1"/>
              <a:t>analyze</a:t>
            </a:r>
            <a:r>
              <a:rPr lang="en-IN" sz="2000" dirty="0"/>
              <a:t> body language, eye contact, and facial expressions via webcam</a:t>
            </a:r>
          </a:p>
          <a:p>
            <a:pPr marL="0" indent="0">
              <a:buNone/>
            </a:pPr>
            <a:endParaRPr lang="en-IN" sz="2000" dirty="0"/>
          </a:p>
          <a:p>
            <a:r>
              <a:rPr lang="en-IN" sz="2000" b="1" dirty="0"/>
              <a:t>Peer comparison leaderboards:</a:t>
            </a:r>
            <a:r>
              <a:rPr lang="en-IN" sz="2000" dirty="0"/>
              <a:t> benchmarking against other founders at similar stages</a:t>
            </a:r>
          </a:p>
          <a:p>
            <a:endParaRPr lang="en-IN" sz="2000" dirty="0"/>
          </a:p>
          <a:p>
            <a:r>
              <a:rPr lang="en-IN" sz="2000" b="1" dirty="0"/>
              <a:t>Multi-language support:</a:t>
            </a:r>
            <a:r>
              <a:rPr lang="en-IN" sz="2000" dirty="0"/>
              <a:t> enable pitch practice in Hindi, Spanish, Mandarin, and other languages</a:t>
            </a:r>
          </a:p>
          <a:p>
            <a:endParaRPr lang="en-IN" sz="2000" dirty="0"/>
          </a:p>
          <a:p>
            <a:r>
              <a:rPr lang="en-IN" sz="2000" b="1" dirty="0"/>
              <a:t>Mobile application:</a:t>
            </a:r>
            <a:r>
              <a:rPr lang="en-IN" sz="2000" dirty="0"/>
              <a:t> React Native port for mobile practice</a:t>
            </a:r>
          </a:p>
          <a:p>
            <a:endParaRPr lang="en-IN" sz="2000" dirty="0"/>
          </a:p>
          <a:p>
            <a:r>
              <a:rPr lang="en-IN" sz="2000" b="1" dirty="0"/>
              <a:t>Group pitch mode:</a:t>
            </a:r>
            <a:r>
              <a:rPr lang="en-IN" sz="2000" dirty="0"/>
              <a:t> simulate panel interviews with multiple AI investors asking questions simultaneously</a:t>
            </a:r>
          </a:p>
        </p:txBody>
      </p:sp>
    </p:spTree>
    <p:extLst>
      <p:ext uri="{BB962C8B-B14F-4D97-AF65-F5344CB8AC3E}">
        <p14:creationId xmlns:p14="http://schemas.microsoft.com/office/powerpoint/2010/main" val="3875612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59358" y="186741"/>
            <a:ext cx="8115295" cy="1217257"/>
          </a:xfrm>
        </p:spPr>
        <p:txBody>
          <a:bodyPr>
            <a:normAutofit/>
          </a:bodyPr>
          <a:lstStyle/>
          <a:p>
            <a:r>
              <a:rPr lang="en-IN" sz="4000" b="1" dirty="0">
                <a:solidFill>
                  <a:schemeClr val="bg1"/>
                </a:solidFill>
                <a:latin typeface="Cambria" panose="02040503050406030204" pitchFamily="18" charset="0"/>
              </a:rPr>
              <a:t>REFERENCES</a:t>
            </a:r>
          </a:p>
        </p:txBody>
      </p:sp>
      <p:pic>
        <p:nvPicPr>
          <p:cNvPr id="7" name="Picture 6" descr="Logo&#10;&#10;Description automatically generated">
            <a:extLst>
              <a:ext uri="{FF2B5EF4-FFF2-40B4-BE49-F238E27FC236}">
                <a16:creationId xmlns:a16="http://schemas.microsoft.com/office/drawing/2014/main" id="{40C23DFE-E8D6-EB69-3191-B2F7ACC9061F}"/>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9032916" y="452655"/>
            <a:ext cx="2462400" cy="668525"/>
          </a:xfrm>
          <a:prstGeom prst="rect">
            <a:avLst/>
          </a:prstGeom>
          <a:noFill/>
          <a:ln>
            <a:noFill/>
          </a:ln>
        </p:spPr>
      </p:pic>
      <p:sp>
        <p:nvSpPr>
          <p:cNvPr id="8" name="Content Placeholder 2">
            <a:extLst>
              <a:ext uri="{FF2B5EF4-FFF2-40B4-BE49-F238E27FC236}">
                <a16:creationId xmlns:a16="http://schemas.microsoft.com/office/drawing/2014/main" id="{721440EF-D45E-61D4-3E43-904FE299A30D}"/>
              </a:ext>
            </a:extLst>
          </p:cNvPr>
          <p:cNvSpPr txBox="1">
            <a:spLocks/>
          </p:cNvSpPr>
          <p:nvPr/>
        </p:nvSpPr>
        <p:spPr>
          <a:xfrm>
            <a:off x="2373991" y="2461421"/>
            <a:ext cx="8195620" cy="5529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800" b="0" i="0" u="none" strike="noStrike" kern="1200" cap="none" spc="0" normalizeH="0" baseline="0" noProof="0" dirty="0">
              <a:ln>
                <a:noFill/>
              </a:ln>
              <a:solidFill>
                <a:srgbClr val="0033CC"/>
              </a:solidFill>
              <a:effectLst/>
              <a:uLnTx/>
              <a:uFillTx/>
              <a:latin typeface="Cambria" panose="02040503050406030204" pitchFamily="18" charset="0"/>
              <a:ea typeface="+mn-ea"/>
              <a:cs typeface="+mn-cs"/>
            </a:endParaRPr>
          </a:p>
        </p:txBody>
      </p:sp>
      <p:sp>
        <p:nvSpPr>
          <p:cNvPr id="5" name="Slide Number Placeholder 4">
            <a:extLst>
              <a:ext uri="{FF2B5EF4-FFF2-40B4-BE49-F238E27FC236}">
                <a16:creationId xmlns:a16="http://schemas.microsoft.com/office/drawing/2014/main" id="{F38D160C-539A-DEAA-7E57-E21923DCEDF6}"/>
              </a:ext>
            </a:extLst>
          </p:cNvPr>
          <p:cNvSpPr>
            <a:spLocks noGrp="1"/>
          </p:cNvSpPr>
          <p:nvPr>
            <p:ph type="sldNum" sz="quarter" idx="12"/>
          </p:nvPr>
        </p:nvSpPr>
        <p:spPr/>
        <p:txBody>
          <a:bodyPr/>
          <a:lstStyle/>
          <a:p>
            <a:fld id="{87ACCF74-76A4-4B7C-AE89-E33624618226}" type="slidenum">
              <a:rPr lang="en-IN" smtClean="0"/>
              <a:t>21</a:t>
            </a:fld>
            <a:endParaRPr lang="en-IN" dirty="0"/>
          </a:p>
        </p:txBody>
      </p:sp>
      <p:sp>
        <p:nvSpPr>
          <p:cNvPr id="4" name="Rectangle 1">
            <a:extLst>
              <a:ext uri="{FF2B5EF4-FFF2-40B4-BE49-F238E27FC236}">
                <a16:creationId xmlns:a16="http://schemas.microsoft.com/office/drawing/2014/main" id="{9F2B0B5A-CA1F-5F5A-FFD9-D0BBC543475E}"/>
              </a:ext>
            </a:extLst>
          </p:cNvPr>
          <p:cNvSpPr>
            <a:spLocks noGrp="1" noChangeArrowheads="1"/>
          </p:cNvSpPr>
          <p:nvPr>
            <p:ph idx="1"/>
          </p:nvPr>
        </p:nvSpPr>
        <p:spPr bwMode="auto">
          <a:xfrm>
            <a:off x="129756" y="1573834"/>
            <a:ext cx="1136556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Brooks, A.W. et al. (2014). "Pitch Perfect: Examining the Effect of Founder-Investor Fit in Venture Pitches." Management Science, 60(1), 116–134. </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hlinkClick r:id="rId4"/>
              </a:rPr>
              <a:t>https://doi.org/10.1287/mnsc.2013.1755</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Brown, T. et al. (2020). "Language Models are Few-Shot Learners." </a:t>
            </a:r>
            <a:r>
              <a:rPr kumimoji="0" lang="en-US" altLang="en-US" sz="17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NeurIPS</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33, 1877–1901. </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hlinkClick r:id="rId5"/>
              </a:rPr>
              <a:t>https://arxiv.org/abs/2005.14165</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700" dirty="0">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Radford, A. et al. (2023). "Robust Speech Recognition via Large-Scale Weak Supervision." ICML, 202, 28492–28518. </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hlinkClick r:id="rId6"/>
              </a:rPr>
              <a:t>https://arxiv.org/abs/2212.04356</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Sredojev</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 et al. (2015). "WebRTC Technology Overview and Signaling Solution Design." MIPRO 2015, IEEE, 1006–1009. </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hlinkClick r:id="rId7"/>
              </a:rPr>
              <a:t>https://doi.org/10.1109/MIPRO.2015.7160422</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Zawacki-Richter, O. et al. (2019). "Systematic Review of Research on AI Applications in Higher Education." Int. J. Educational Technology in Higher Education, 16(1), 1–27. </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hlinkClick r:id="rId8"/>
              </a:rPr>
              <a:t>https://doi.org/10.1186/s41239-019-0171-0</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Ouyang, L. et al. (2022). "Training Language Models to Follow Instructions with Human Feedback." </a:t>
            </a:r>
            <a:r>
              <a:rPr kumimoji="0" lang="en-US" altLang="en-US" sz="17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NeurIPS</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35, 27730–27744. </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hlinkClick r:id="rId9"/>
              </a:rPr>
              <a:t>https://arxiv.org/abs/2203.02155</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Jonas, E. et al. (2019). "Cloud Programming Simplified: A Berkeley View on Serverless Computing." </a:t>
            </a:r>
            <a:r>
              <a:rPr kumimoji="0" lang="en-US" altLang="en-US" sz="17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arXiv</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preprint. </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hlinkClick r:id="rId10"/>
              </a:rPr>
              <a:t>https://arxiv.org/abs/1902.03383</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4292902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A02415-460A-A902-3CE2-F749B952D2C2}"/>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CB9B29A-40F5-E9C6-DBB7-FDA974161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E8398A4-FA57-9A84-4D47-6824D20FEE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1572A79-06CA-7522-CDE2-57B8D30CB9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751F383-2F64-A529-005B-C7C645B0E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1F9B2BE0-12B9-18C4-4F95-60B901F8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E026B425-5728-791D-B06F-27E606EA2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11E7D31-2AB3-C020-D2A9-0FD8001CCDD4}"/>
              </a:ext>
            </a:extLst>
          </p:cNvPr>
          <p:cNvSpPr>
            <a:spLocks noGrp="1"/>
          </p:cNvSpPr>
          <p:nvPr>
            <p:ph type="title"/>
          </p:nvPr>
        </p:nvSpPr>
        <p:spPr>
          <a:xfrm>
            <a:off x="186386" y="44855"/>
            <a:ext cx="3665039" cy="3387497"/>
          </a:xfrm>
        </p:spPr>
        <p:txBody>
          <a:bodyPr anchor="b">
            <a:normAutofit/>
          </a:bodyPr>
          <a:lstStyle/>
          <a:p>
            <a:r>
              <a:rPr lang="en-IN" sz="2500" b="1" dirty="0">
                <a:solidFill>
                  <a:srgbClr val="FFFFFF"/>
                </a:solidFill>
                <a:latin typeface="Cambria" panose="02040503050406030204" pitchFamily="18" charset="0"/>
              </a:rPr>
              <a:t>ACKNOWLEDGEMENTS</a:t>
            </a:r>
          </a:p>
        </p:txBody>
      </p:sp>
      <p:pic>
        <p:nvPicPr>
          <p:cNvPr id="4" name="Picture 3" descr="Logo&#10;&#10;Description automatically generated">
            <a:extLst>
              <a:ext uri="{FF2B5EF4-FFF2-40B4-BE49-F238E27FC236}">
                <a16:creationId xmlns:a16="http://schemas.microsoft.com/office/drawing/2014/main" id="{EEE5339C-3BBB-5D04-62D9-FEE82DE5674E}"/>
              </a:ext>
            </a:extLst>
          </p:cNvPr>
          <p:cNvPicPr>
            <a:picLocks noChangeAspect="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9691337" y="88655"/>
            <a:ext cx="2461038" cy="668155"/>
          </a:xfrm>
          <a:prstGeom prst="rect">
            <a:avLst/>
          </a:prstGeom>
          <a:noFill/>
          <a:ln>
            <a:noFill/>
          </a:ln>
        </p:spPr>
      </p:pic>
      <p:sp>
        <p:nvSpPr>
          <p:cNvPr id="5" name="Slide Number Placeholder 4">
            <a:extLst>
              <a:ext uri="{FF2B5EF4-FFF2-40B4-BE49-F238E27FC236}">
                <a16:creationId xmlns:a16="http://schemas.microsoft.com/office/drawing/2014/main" id="{37E6064F-3A7E-2FBE-A674-97BD0BE93EF9}"/>
              </a:ext>
            </a:extLst>
          </p:cNvPr>
          <p:cNvSpPr>
            <a:spLocks noGrp="1"/>
          </p:cNvSpPr>
          <p:nvPr>
            <p:ph type="sldNum" sz="quarter" idx="12"/>
          </p:nvPr>
        </p:nvSpPr>
        <p:spPr/>
        <p:txBody>
          <a:bodyPr/>
          <a:lstStyle/>
          <a:p>
            <a:fld id="{87ACCF74-76A4-4B7C-AE89-E33624618226}" type="slidenum">
              <a:rPr lang="en-IN" smtClean="0"/>
              <a:t>22</a:t>
            </a:fld>
            <a:endParaRPr lang="en-IN" dirty="0"/>
          </a:p>
        </p:txBody>
      </p:sp>
      <p:sp>
        <p:nvSpPr>
          <p:cNvPr id="3" name="Rectangle 1">
            <a:extLst>
              <a:ext uri="{FF2B5EF4-FFF2-40B4-BE49-F238E27FC236}">
                <a16:creationId xmlns:a16="http://schemas.microsoft.com/office/drawing/2014/main" id="{92FA1E96-067D-4BE4-2DE8-70773C9D1B8A}"/>
              </a:ext>
            </a:extLst>
          </p:cNvPr>
          <p:cNvSpPr>
            <a:spLocks noGrp="1" noChangeArrowheads="1"/>
          </p:cNvSpPr>
          <p:nvPr>
            <p:ph idx="1"/>
          </p:nvPr>
        </p:nvSpPr>
        <p:spPr bwMode="auto">
          <a:xfrm>
            <a:off x="4367212" y="1915653"/>
            <a:ext cx="789284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sz="1800" dirty="0">
                <a:latin typeface="Cambria" panose="02040503050406030204" pitchFamily="18" charset="0"/>
                <a:ea typeface="Cambria" panose="02040503050406030204" pitchFamily="18" charset="0"/>
              </a:rPr>
              <a:t>I would like to extend my sincerest gratitude to </a:t>
            </a:r>
            <a:r>
              <a:rPr lang="en-US" sz="1800" b="1" dirty="0">
                <a:latin typeface="Cambria" panose="02040503050406030204" pitchFamily="18" charset="0"/>
                <a:ea typeface="Cambria" panose="02040503050406030204" pitchFamily="18" charset="0"/>
              </a:rPr>
              <a:t>VIT University </a:t>
            </a:r>
            <a:r>
              <a:rPr lang="en-US" sz="1800" dirty="0">
                <a:latin typeface="Cambria" panose="02040503050406030204" pitchFamily="18" charset="0"/>
                <a:ea typeface="Cambria" panose="02040503050406030204" pitchFamily="18" charset="0"/>
              </a:rPr>
              <a:t>for providing the platform and resources that have made this project possible. My thanks also go to the </a:t>
            </a:r>
            <a:r>
              <a:rPr lang="en-US" sz="1800" b="1" dirty="0">
                <a:latin typeface="Cambria" panose="02040503050406030204" pitchFamily="18" charset="0"/>
                <a:ea typeface="Cambria" panose="02040503050406030204" pitchFamily="18" charset="0"/>
              </a:rPr>
              <a:t>School of Computer Science and Engineering(SCOPE) </a:t>
            </a:r>
            <a:r>
              <a:rPr lang="en-US" sz="1800" dirty="0">
                <a:latin typeface="Cambria" panose="02040503050406030204" pitchFamily="18" charset="0"/>
                <a:ea typeface="Cambria" panose="02040503050406030204" pitchFamily="18" charset="0"/>
              </a:rPr>
              <a:t>for its unwavering support and guidance throughout our academic journey.</a:t>
            </a:r>
          </a:p>
          <a:p>
            <a:pPr marL="0" indent="0" eaLnBrk="0" fontAlgn="base" hangingPunct="0">
              <a:lnSpc>
                <a:spcPct val="100000"/>
              </a:lnSpc>
              <a:spcBef>
                <a:spcPct val="0"/>
              </a:spcBef>
              <a:spcAft>
                <a:spcPct val="0"/>
              </a:spcAft>
              <a:buNone/>
            </a:pPr>
            <a:endParaRPr lang="en-US" sz="1800" dirty="0">
              <a:latin typeface="Cambria" panose="02040503050406030204" pitchFamily="18" charset="0"/>
              <a:ea typeface="Cambria" panose="02040503050406030204" pitchFamily="18" charset="0"/>
            </a:endParaRPr>
          </a:p>
          <a:p>
            <a:pPr marL="0" indent="0" eaLnBrk="0" fontAlgn="base" hangingPunct="0">
              <a:lnSpc>
                <a:spcPct val="100000"/>
              </a:lnSpc>
              <a:spcBef>
                <a:spcPct val="0"/>
              </a:spcBef>
              <a:spcAft>
                <a:spcPct val="0"/>
              </a:spcAft>
              <a:buNone/>
            </a:pPr>
            <a:r>
              <a:rPr lang="en-US" sz="1800" dirty="0">
                <a:latin typeface="Cambria" panose="02040503050406030204" pitchFamily="18" charset="0"/>
                <a:ea typeface="Cambria" panose="02040503050406030204" pitchFamily="18" charset="0"/>
              </a:rPr>
              <a:t>A special and heartfelt thank you to my guide, </a:t>
            </a:r>
            <a:r>
              <a:rPr lang="en-US" sz="1800" b="1" dirty="0">
                <a:latin typeface="Cambria" panose="02040503050406030204" pitchFamily="18" charset="0"/>
                <a:ea typeface="Cambria" panose="02040503050406030204" pitchFamily="18" charset="0"/>
              </a:rPr>
              <a:t>Dr Sarwesh P</a:t>
            </a:r>
            <a:r>
              <a:rPr lang="en-US" sz="1800" dirty="0">
                <a:latin typeface="Cambria" panose="02040503050406030204" pitchFamily="18" charset="0"/>
                <a:ea typeface="Cambria" panose="02040503050406030204" pitchFamily="18" charset="0"/>
              </a:rPr>
              <a:t>. Your invaluable guidance, expert knowledge, and continuous encouragement have been critical to the progress of our work so far. We are truly grateful for the time and effort you have dedicated to mentoring our team.</a:t>
            </a:r>
          </a:p>
          <a:p>
            <a:pPr marL="0" indent="0" eaLnBrk="0" fontAlgn="base" hangingPunct="0">
              <a:lnSpc>
                <a:spcPct val="100000"/>
              </a:lnSpc>
              <a:spcBef>
                <a:spcPct val="0"/>
              </a:spcBef>
              <a:spcAft>
                <a:spcPct val="0"/>
              </a:spcAft>
              <a:buNone/>
            </a:pPr>
            <a:endParaRPr lang="en-US" altLang="en-US"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1788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Rolls of blueprints">
            <a:extLst>
              <a:ext uri="{FF2B5EF4-FFF2-40B4-BE49-F238E27FC236}">
                <a16:creationId xmlns:a16="http://schemas.microsoft.com/office/drawing/2014/main" id="{8444CAF3-4B05-970E-4657-5D5D2EB1FE58}"/>
              </a:ext>
            </a:extLst>
          </p:cNvPr>
          <p:cNvPicPr>
            <a:picLocks noChangeAspect="1"/>
          </p:cNvPicPr>
          <p:nvPr/>
        </p:nvPicPr>
        <p:blipFill rotWithShape="1">
          <a:blip r:embed="rId3"/>
          <a:srcRect l="49863" r="-1" b="-1"/>
          <a:stretch/>
        </p:blipFill>
        <p:spPr>
          <a:xfrm>
            <a:off x="-1" y="10"/>
            <a:ext cx="5151179" cy="6857990"/>
          </a:xfrm>
          <a:prstGeom prst="rect">
            <a:avLst/>
          </a:prstGeom>
        </p:spPr>
      </p:pic>
      <p:cxnSp>
        <p:nvCxnSpPr>
          <p:cNvPr id="12" name="Straight Connector 11">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4D9F100E-44ED-C884-7BAE-0C7E67B36946}"/>
              </a:ext>
            </a:extLst>
          </p:cNvPr>
          <p:cNvSpPr>
            <a:spLocks noGrp="1"/>
          </p:cNvSpPr>
          <p:nvPr>
            <p:ph idx="1"/>
          </p:nvPr>
        </p:nvSpPr>
        <p:spPr>
          <a:xfrm>
            <a:off x="6096000" y="1825625"/>
            <a:ext cx="5257800" cy="4351338"/>
          </a:xfrm>
        </p:spPr>
        <p:txBody>
          <a:bodyPr/>
          <a:lstStyle/>
          <a:p>
            <a:endParaRPr lang="en-IN" dirty="0"/>
          </a:p>
          <a:p>
            <a:endParaRPr lang="en-IN" dirty="0"/>
          </a:p>
          <a:p>
            <a:endParaRPr lang="en-IN" dirty="0"/>
          </a:p>
          <a:p>
            <a:endParaRPr lang="en-IN" dirty="0"/>
          </a:p>
          <a:p>
            <a:pPr marL="0" indent="0" algn="ctr">
              <a:buNone/>
            </a:pPr>
            <a:r>
              <a:rPr lang="en-IN" dirty="0"/>
              <a:t> THANK YOU!!!</a:t>
            </a:r>
          </a:p>
        </p:txBody>
      </p:sp>
      <p:sp>
        <p:nvSpPr>
          <p:cNvPr id="4" name="Slide Number Placeholder 3">
            <a:extLst>
              <a:ext uri="{FF2B5EF4-FFF2-40B4-BE49-F238E27FC236}">
                <a16:creationId xmlns:a16="http://schemas.microsoft.com/office/drawing/2014/main" id="{5AACA12F-E5B5-334A-935D-5ADD03B8E88F}"/>
              </a:ext>
            </a:extLst>
          </p:cNvPr>
          <p:cNvSpPr>
            <a:spLocks noGrp="1"/>
          </p:cNvSpPr>
          <p:nvPr>
            <p:ph type="sldNum" sz="quarter" idx="12"/>
          </p:nvPr>
        </p:nvSpPr>
        <p:spPr/>
        <p:txBody>
          <a:bodyPr/>
          <a:lstStyle/>
          <a:p>
            <a:fld id="{87ACCF74-76A4-4B7C-AE89-E33624618226}" type="slidenum">
              <a:rPr lang="en-IN" smtClean="0"/>
              <a:t>23</a:t>
            </a:fld>
            <a:endParaRPr lang="en-IN" dirty="0"/>
          </a:p>
        </p:txBody>
      </p:sp>
    </p:spTree>
    <p:extLst>
      <p:ext uri="{BB962C8B-B14F-4D97-AF65-F5344CB8AC3E}">
        <p14:creationId xmlns:p14="http://schemas.microsoft.com/office/powerpoint/2010/main" val="13324874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1471</TotalTime>
  <Words>2144</Words>
  <Application>Microsoft Office PowerPoint</Application>
  <PresentationFormat>Widescreen</PresentationFormat>
  <Paragraphs>274</Paragraphs>
  <Slides>23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Cambria</vt:lpstr>
      <vt:lpstr>Symbol</vt:lpstr>
      <vt:lpstr>Office Theme</vt:lpstr>
      <vt:lpstr>PowerPoint Presentation</vt:lpstr>
      <vt:lpstr>PowerPoint Presentation</vt:lpstr>
      <vt:lpstr>PROBLEM STATEMENT</vt:lpstr>
      <vt:lpstr>PowerPoint Presentation</vt:lpstr>
      <vt:lpstr>PowerPoint Presentation</vt:lpstr>
      <vt:lpstr>LITERATURE REVIEW</vt:lpstr>
      <vt:lpstr>PowerPoint Presentation</vt:lpstr>
      <vt:lpstr>USER FLOW</vt:lpstr>
      <vt:lpstr>PowerPoint Presentation</vt:lpstr>
      <vt:lpstr>PITCH TYPES</vt:lpstr>
      <vt:lpstr>STRUCTURED ASSESSMENT</vt:lpstr>
      <vt:lpstr>CONTEXT CARRY FORWARD</vt:lpstr>
      <vt:lpstr>PowerPoint Presentation</vt:lpstr>
      <vt:lpstr>PowerPoint Presentation</vt:lpstr>
      <vt:lpstr>PowerPoint Presentation</vt:lpstr>
      <vt:lpstr>ANALYTICS DASHBOARD</vt:lpstr>
      <vt:lpstr>TESTING</vt:lpstr>
      <vt:lpstr>RESULTS</vt:lpstr>
      <vt:lpstr>CONCLUSION</vt:lpstr>
      <vt:lpstr>FUTURE ENHANCEMENTS</vt:lpstr>
      <vt:lpstr>REFERENCES</vt:lpstr>
      <vt:lpstr>ACKNOWLEDGEMENTS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Devendranath Ramkumar</dc:creator>
  <cp:lastModifiedBy>Henil Diwan</cp:lastModifiedBy>
  <cp:revision>66</cp:revision>
  <dcterms:created xsi:type="dcterms:W3CDTF">2023-09-11T05:27:11Z</dcterms:created>
  <dcterms:modified xsi:type="dcterms:W3CDTF">2026-04-29T17:24:22Z</dcterms:modified>
</cp:coreProperties>
</file>